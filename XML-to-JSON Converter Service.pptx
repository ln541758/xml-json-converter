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6858000" cx="12192000"/>
  <p:notesSz cx="6858000" cy="9144000"/>
  <p:embeddedFontLst>
    <p:embeddedFont>
      <p:font typeface="Inter"/>
      <p:regular r:id="rId27"/>
      <p:bold r:id="rId28"/>
      <p:italic r:id="rId29"/>
      <p:boldItalic r:id="rId30"/>
    </p:embeddedFont>
    <p:embeddedFont>
      <p:font typeface="Urbanist SemiBold"/>
      <p:regular r:id="rId31"/>
      <p:bold r:id="rId32"/>
      <p:italic r:id="rId33"/>
      <p:boldItalic r:id="rId34"/>
    </p:embeddedFont>
    <p:embeddedFont>
      <p:font typeface="Urbanist"/>
      <p:regular r:id="rId35"/>
      <p:bold r:id="rId36"/>
      <p:italic r:id="rId37"/>
      <p:boldItalic r:id="rId38"/>
    </p:embeddedFont>
    <p:embeddedFont>
      <p:font typeface="Roboto Mono"/>
      <p:regular r:id="rId39"/>
      <p:bold r:id="rId40"/>
      <p:italic r:id="rId41"/>
      <p:boldItalic r:id="rId42"/>
    </p:embeddedFont>
    <p:embeddedFont>
      <p:font typeface="Inter Medium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-bold.fntdata"/><Relationship Id="rId20" Type="http://schemas.openxmlformats.org/officeDocument/2006/relationships/slide" Target="slides/slide15.xml"/><Relationship Id="rId42" Type="http://schemas.openxmlformats.org/officeDocument/2006/relationships/font" Target="fonts/RobotoMono-boldItalic.fntdata"/><Relationship Id="rId41" Type="http://schemas.openxmlformats.org/officeDocument/2006/relationships/font" Target="fonts/RobotoMono-italic.fntdata"/><Relationship Id="rId22" Type="http://schemas.openxmlformats.org/officeDocument/2006/relationships/slide" Target="slides/slide17.xml"/><Relationship Id="rId44" Type="http://schemas.openxmlformats.org/officeDocument/2006/relationships/font" Target="fonts/InterMedium-bold.fntdata"/><Relationship Id="rId21" Type="http://schemas.openxmlformats.org/officeDocument/2006/relationships/slide" Target="slides/slide16.xml"/><Relationship Id="rId43" Type="http://schemas.openxmlformats.org/officeDocument/2006/relationships/font" Target="fonts/InterMedium-regular.fntdata"/><Relationship Id="rId24" Type="http://schemas.openxmlformats.org/officeDocument/2006/relationships/slide" Target="slides/slide19.xml"/><Relationship Id="rId46" Type="http://schemas.openxmlformats.org/officeDocument/2006/relationships/font" Target="fonts/InterMedium-boldItalic.fntdata"/><Relationship Id="rId23" Type="http://schemas.openxmlformats.org/officeDocument/2006/relationships/slide" Target="slides/slide18.xml"/><Relationship Id="rId45" Type="http://schemas.openxmlformats.org/officeDocument/2006/relationships/font" Target="fonts/InterMedium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Inter-bold.fntdata"/><Relationship Id="rId27" Type="http://schemas.openxmlformats.org/officeDocument/2006/relationships/font" Target="fonts/Inter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UrbanistSemiBold-regular.fntdata"/><Relationship Id="rId30" Type="http://schemas.openxmlformats.org/officeDocument/2006/relationships/font" Target="fonts/Inter-boldItalic.fntdata"/><Relationship Id="rId11" Type="http://schemas.openxmlformats.org/officeDocument/2006/relationships/slide" Target="slides/slide6.xml"/><Relationship Id="rId33" Type="http://schemas.openxmlformats.org/officeDocument/2006/relationships/font" Target="fonts/UrbanistSemiBold-italic.fntdata"/><Relationship Id="rId10" Type="http://schemas.openxmlformats.org/officeDocument/2006/relationships/slide" Target="slides/slide5.xml"/><Relationship Id="rId32" Type="http://schemas.openxmlformats.org/officeDocument/2006/relationships/font" Target="fonts/UrbanistSemiBold-bold.fntdata"/><Relationship Id="rId13" Type="http://schemas.openxmlformats.org/officeDocument/2006/relationships/slide" Target="slides/slide8.xml"/><Relationship Id="rId35" Type="http://schemas.openxmlformats.org/officeDocument/2006/relationships/font" Target="fonts/Urbanist-regular.fntdata"/><Relationship Id="rId12" Type="http://schemas.openxmlformats.org/officeDocument/2006/relationships/slide" Target="slides/slide7.xml"/><Relationship Id="rId34" Type="http://schemas.openxmlformats.org/officeDocument/2006/relationships/font" Target="fonts/UrbanistSemiBold-boldItalic.fntdata"/><Relationship Id="rId15" Type="http://schemas.openxmlformats.org/officeDocument/2006/relationships/slide" Target="slides/slide10.xml"/><Relationship Id="rId37" Type="http://schemas.openxmlformats.org/officeDocument/2006/relationships/font" Target="fonts/Urbanist-italic.fntdata"/><Relationship Id="rId14" Type="http://schemas.openxmlformats.org/officeDocument/2006/relationships/slide" Target="slides/slide9.xml"/><Relationship Id="rId36" Type="http://schemas.openxmlformats.org/officeDocument/2006/relationships/font" Target="fonts/Urbanist-bold.fntdata"/><Relationship Id="rId17" Type="http://schemas.openxmlformats.org/officeDocument/2006/relationships/slide" Target="slides/slide12.xml"/><Relationship Id="rId39" Type="http://schemas.openxmlformats.org/officeDocument/2006/relationships/font" Target="fonts/RobotoMono-regular.fntdata"/><Relationship Id="rId16" Type="http://schemas.openxmlformats.org/officeDocument/2006/relationships/slide" Target="slides/slide11.xml"/><Relationship Id="rId38" Type="http://schemas.openxmlformats.org/officeDocument/2006/relationships/font" Target="fonts/Urbanist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1CADE4"/>
                </a:solidFill>
              </a:rPr>
              <a:t> </a:t>
            </a:r>
            <a:r>
              <a:rPr lang="en-US" sz="2700">
                <a:solidFill>
                  <a:schemeClr val="dk1"/>
                </a:solidFill>
              </a:rPr>
              <a:t>Many DevOps tools (Jenkins, JUnit, Maven, Jacoco) produce XML logs, while modern monitoring systems (ELK, Grafana Loki) require JSON. This project bridges that gap with a high-performance, distributed conversion service running on Kubernetes with AWS integration.</a:t>
            </a:r>
            <a:endParaRPr sz="2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1CADE4"/>
              </a:solidFill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The architecture evolved from an initial synchronous </a:t>
            </a:r>
            <a:r>
              <a:rPr b="1" lang="en-US" sz="1900">
                <a:solidFill>
                  <a:schemeClr val="dk1"/>
                </a:solidFill>
              </a:rPr>
              <a:t>RESTful design</a:t>
            </a:r>
            <a:r>
              <a:rPr lang="en-US" sz="1900">
                <a:solidFill>
                  <a:schemeClr val="dk1"/>
                </a:solidFill>
              </a:rPr>
              <a:t>—where clients submitted jobs through an </a:t>
            </a:r>
            <a:r>
              <a:rPr b="1" lang="en-US" sz="1900">
                <a:solidFill>
                  <a:schemeClr val="dk1"/>
                </a:solidFill>
              </a:rPr>
              <a:t>API Gateway</a:t>
            </a:r>
            <a:r>
              <a:rPr lang="en-US" sz="1900">
                <a:solidFill>
                  <a:schemeClr val="dk1"/>
                </a:solidFill>
              </a:rPr>
              <a:t> to a load-balanced set of parsers with results stored directly in S3—to a highly scalable, </a:t>
            </a:r>
            <a:r>
              <a:rPr b="1" lang="en-US" sz="1900">
                <a:solidFill>
                  <a:schemeClr val="dk1"/>
                </a:solidFill>
              </a:rPr>
              <a:t>decoupled microservices architecture</a:t>
            </a:r>
            <a:r>
              <a:rPr lang="en-US" sz="1900">
                <a:solidFill>
                  <a:schemeClr val="dk1"/>
                </a:solidFill>
              </a:rPr>
              <a:t>. The final design utilizes </a:t>
            </a:r>
            <a:r>
              <a:rPr b="1" lang="en-US" sz="1900">
                <a:solidFill>
                  <a:schemeClr val="dk1"/>
                </a:solidFill>
              </a:rPr>
              <a:t>SQS (Simple Queue Service)</a:t>
            </a:r>
            <a:r>
              <a:rPr lang="en-US" sz="1900">
                <a:solidFill>
                  <a:schemeClr val="dk1"/>
                </a:solidFill>
              </a:rPr>
              <a:t> to buffer jobs, enhancing stability and fault tolerance. This asynchronous pattern employs an </a:t>
            </a:r>
            <a:r>
              <a:rPr b="1" lang="en-US" sz="1900">
                <a:solidFill>
                  <a:schemeClr val="dk1"/>
                </a:solidFill>
              </a:rPr>
              <a:t>EKS Cluster</a:t>
            </a:r>
            <a:r>
              <a:rPr lang="en-US" sz="1900">
                <a:solidFill>
                  <a:schemeClr val="dk1"/>
                </a:solidFill>
              </a:rPr>
              <a:t> running </a:t>
            </a:r>
            <a:r>
              <a:rPr b="1" lang="en-US" sz="1900">
                <a:solidFill>
                  <a:schemeClr val="dk1"/>
                </a:solidFill>
              </a:rPr>
              <a:t>Worker Pods</a:t>
            </a:r>
            <a:r>
              <a:rPr lang="en-US" sz="1900">
                <a:solidFill>
                  <a:schemeClr val="dk1"/>
                </a:solidFill>
              </a:rPr>
              <a:t> that consume the SQS queue, perform the XML-to-JSON conversion, and store results in S3. Critical to scalability and health is the integration of </a:t>
            </a:r>
            <a:r>
              <a:rPr b="1" lang="en-US" sz="1900">
                <a:solidFill>
                  <a:schemeClr val="dk1"/>
                </a:solidFill>
              </a:rPr>
              <a:t>Prometheus Monitoring</a:t>
            </a:r>
            <a:r>
              <a:rPr lang="en-US" sz="1900">
                <a:solidFill>
                  <a:schemeClr val="dk1"/>
                </a:solidFill>
              </a:rPr>
              <a:t>, which scrapes metrics from each worker's endpoint, enabling the </a:t>
            </a:r>
            <a:r>
              <a:rPr b="1" lang="en-US" sz="1900">
                <a:solidFill>
                  <a:schemeClr val="dk1"/>
                </a:solidFill>
              </a:rPr>
              <a:t>Horizontal Pod Autoscaler (HPA)</a:t>
            </a:r>
            <a:r>
              <a:rPr lang="en-US" sz="1900">
                <a:solidFill>
                  <a:schemeClr val="dk1"/>
                </a:solidFill>
              </a:rPr>
              <a:t> to elastically scale the worker fleet based on real-time load. This transition effectively isolates the failure domains, ensuring the system maintains high availability and superior scaling capabilities.</a:t>
            </a:r>
            <a:br>
              <a:rPr lang="en-US" sz="1900">
                <a:solidFill>
                  <a:schemeClr val="dk1"/>
                </a:solidFill>
              </a:rPr>
            </a:br>
            <a:br>
              <a:rPr lang="en-US">
                <a:solidFill>
                  <a:schemeClr val="dk1"/>
                </a:solidFill>
              </a:rPr>
            </a:b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61ec7e346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E3E3E3"/>
                </a:solidFill>
                <a:highlight>
                  <a:srgbClr val="131314"/>
                </a:highlight>
              </a:rPr>
              <a:t>The architecture fundamentally evolved from an initial </a:t>
            </a:r>
            <a:r>
              <a:rPr b="1" lang="en-US" sz="2000">
                <a:solidFill>
                  <a:srgbClr val="E3E3E3"/>
                </a:solidFill>
                <a:highlight>
                  <a:srgbClr val="131314"/>
                </a:highlight>
              </a:rPr>
              <a:t>synchronous, load-balanced RESTful design</a:t>
            </a:r>
            <a:r>
              <a:rPr lang="en-US" sz="2000">
                <a:solidFill>
                  <a:srgbClr val="E3E3E3"/>
                </a:solidFill>
                <a:highlight>
                  <a:srgbClr val="131314"/>
                </a:highlight>
              </a:rPr>
              <a:t>—where clients directly routed XML logs to a simple set of </a:t>
            </a:r>
            <a:r>
              <a:rPr b="1" lang="en-US" sz="2000">
                <a:solidFill>
                  <a:srgbClr val="E3E3E3"/>
                </a:solidFill>
                <a:highlight>
                  <a:srgbClr val="131314"/>
                </a:highlight>
              </a:rPr>
              <a:t>Parser</a:t>
            </a:r>
            <a:r>
              <a:rPr lang="en-US" sz="2000">
                <a:solidFill>
                  <a:srgbClr val="E3E3E3"/>
                </a:solidFill>
                <a:highlight>
                  <a:srgbClr val="131314"/>
                </a:highlight>
              </a:rPr>
              <a:t> instances for immediate conversion and S3 storage—to a highly scalable, </a:t>
            </a:r>
            <a:r>
              <a:rPr b="1" lang="en-US" sz="2000">
                <a:solidFill>
                  <a:srgbClr val="E3E3E3"/>
                </a:solidFill>
                <a:highlight>
                  <a:srgbClr val="131314"/>
                </a:highlight>
              </a:rPr>
              <a:t>decoupled microservices architecture</a:t>
            </a:r>
            <a:r>
              <a:rPr lang="en-US" sz="2000">
                <a:solidFill>
                  <a:srgbClr val="E3E3E3"/>
                </a:solidFill>
                <a:highlight>
                  <a:srgbClr val="131314"/>
                </a:highlight>
              </a:rPr>
              <a:t>. This transition introduced an </a:t>
            </a:r>
            <a:r>
              <a:rPr b="1" lang="en-US" sz="2000">
                <a:solidFill>
                  <a:srgbClr val="E3E3E3"/>
                </a:solidFill>
                <a:highlight>
                  <a:srgbClr val="131314"/>
                </a:highlight>
              </a:rPr>
              <a:t>SQS Main Queue</a:t>
            </a:r>
            <a:r>
              <a:rPr lang="en-US" sz="2000">
                <a:solidFill>
                  <a:srgbClr val="E3E3E3"/>
                </a:solidFill>
                <a:highlight>
                  <a:srgbClr val="131314"/>
                </a:highlight>
              </a:rPr>
              <a:t> to buffer and manage conversion jobs, significantly improving stability and resilience. In the final state, the </a:t>
            </a:r>
            <a:r>
              <a:rPr b="1" lang="en-US" sz="2000">
                <a:solidFill>
                  <a:srgbClr val="E3E3E3"/>
                </a:solidFill>
                <a:highlight>
                  <a:srgbClr val="131314"/>
                </a:highlight>
              </a:rPr>
              <a:t>EKS Cluster</a:t>
            </a:r>
            <a:r>
              <a:rPr lang="en-US" sz="2000">
                <a:solidFill>
                  <a:srgbClr val="E3E3E3"/>
                </a:solidFill>
                <a:highlight>
                  <a:srgbClr val="131314"/>
                </a:highlight>
              </a:rPr>
              <a:t> runs horizontally auto-scaled </a:t>
            </a:r>
            <a:r>
              <a:rPr b="1" lang="en-US" sz="2000">
                <a:solidFill>
                  <a:srgbClr val="E3E3E3"/>
                </a:solidFill>
                <a:highlight>
                  <a:srgbClr val="131314"/>
                </a:highlight>
              </a:rPr>
              <a:t>Worker Pods</a:t>
            </a:r>
            <a:r>
              <a:rPr lang="en-US" sz="2000">
                <a:solidFill>
                  <a:srgbClr val="E3E3E3"/>
                </a:solidFill>
                <a:highlight>
                  <a:srgbClr val="131314"/>
                </a:highlight>
              </a:rPr>
              <a:t> that asynchronously </a:t>
            </a:r>
            <a:r>
              <a:rPr b="1" lang="en-US" sz="2000">
                <a:solidFill>
                  <a:srgbClr val="E3E3E3"/>
                </a:solidFill>
                <a:highlight>
                  <a:srgbClr val="131314"/>
                </a:highlight>
              </a:rPr>
              <a:t>poll</a:t>
            </a:r>
            <a:r>
              <a:rPr lang="en-US" sz="2000">
                <a:solidFill>
                  <a:srgbClr val="E3E3E3"/>
                </a:solidFill>
                <a:highlight>
                  <a:srgbClr val="131314"/>
                </a:highlight>
              </a:rPr>
              <a:t> the queue, perform the conversion, and store results in S3</a:t>
            </a:r>
            <a:endParaRPr sz="2000">
              <a:solidFill>
                <a:srgbClr val="E3E3E3"/>
              </a:solidFill>
              <a:highlight>
                <a:srgbClr val="131314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120" name="Google Shape;120;g3a61ec7e346_0_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1CADE4"/>
                </a:solidFill>
              </a:rPr>
              <a:t> </a:t>
            </a:r>
            <a:r>
              <a:rPr lang="en-US" sz="2200">
                <a:solidFill>
                  <a:schemeClr val="dk1"/>
                </a:solidFill>
              </a:rPr>
              <a:t>1. Purpose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1CADE4"/>
                </a:solidFill>
              </a:rPr>
              <a:t> </a:t>
            </a:r>
            <a:r>
              <a:rPr lang="en-US" sz="2200">
                <a:solidFill>
                  <a:schemeClr val="dk1"/>
                </a:solidFill>
              </a:rPr>
              <a:t>The goal of this experiment is to measure how the XML-to-JSON conversion service scales as more replicas (pods) are added.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1CADE4"/>
                </a:solidFill>
              </a:rPr>
              <a:t> </a:t>
            </a:r>
            <a:r>
              <a:rPr lang="en-US" sz="2200">
                <a:solidFill>
                  <a:schemeClr val="dk1"/>
                </a:solidFill>
              </a:rPr>
              <a:t>We examine how throughput (RPS), latency, and CPU usage change when increasing the number of parser pods, and what scalability limits emerge.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CADE4"/>
                </a:solidFill>
              </a:rPr>
              <a:t> 2. Method</a:t>
            </a:r>
            <a:endParaRPr sz="1700">
              <a:solidFill>
                <a:srgbClr val="1CADE4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dk1"/>
                </a:solidFill>
              </a:rPr>
              <a:t>We deployed the service on EKS and varied the number of parser pods: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1CADE4"/>
                </a:solidFill>
              </a:rPr>
              <a:t> </a:t>
            </a:r>
            <a:r>
              <a:rPr lang="en-US" sz="1700">
                <a:solidFill>
                  <a:schemeClr val="dk1"/>
                </a:solidFill>
              </a:rPr>
              <a:t>1 → 2 → 4 → 8 pods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1CADE4"/>
                </a:solidFill>
              </a:rPr>
              <a:t> </a:t>
            </a:r>
            <a:r>
              <a:rPr lang="en-US" sz="1700">
                <a:solidFill>
                  <a:schemeClr val="dk1"/>
                </a:solidFill>
              </a:rPr>
              <a:t>Each configuration was tested using Locust, sending high-concurrency HTTP POST requests with XML payloads.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1CADE4"/>
                </a:solidFill>
              </a:rPr>
              <a:t> </a:t>
            </a:r>
            <a:r>
              <a:rPr lang="en-US" sz="1700">
                <a:solidFill>
                  <a:schemeClr val="dk1"/>
                </a:solidFill>
              </a:rPr>
              <a:t>Metrics collected (via Prometheus / Locust):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1CADE4"/>
                </a:solidFill>
              </a:rPr>
              <a:t> </a:t>
            </a:r>
            <a:r>
              <a:rPr lang="en-US" sz="1700">
                <a:solidFill>
                  <a:schemeClr val="dk1"/>
                </a:solidFill>
              </a:rPr>
              <a:t>1.Requests per second (RPS)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1CADE4"/>
                </a:solidFill>
              </a:rPr>
              <a:t> </a:t>
            </a:r>
            <a:r>
              <a:rPr lang="en-US" sz="1700">
                <a:solidFill>
                  <a:schemeClr val="dk1"/>
                </a:solidFill>
              </a:rPr>
              <a:t>2.Average latency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1CADE4"/>
                </a:solidFill>
              </a:rPr>
              <a:t> </a:t>
            </a:r>
            <a:r>
              <a:rPr lang="en-US" sz="1700">
                <a:solidFill>
                  <a:schemeClr val="dk1"/>
                </a:solidFill>
              </a:rPr>
              <a:t>3.p95 latency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1CADE4"/>
                </a:solidFill>
              </a:rPr>
              <a:t> </a:t>
            </a:r>
            <a:r>
              <a:rPr lang="en-US" sz="1700">
                <a:solidFill>
                  <a:schemeClr val="dk1"/>
                </a:solidFill>
              </a:rPr>
              <a:t>4.CPU utilization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1CADE4"/>
                </a:solidFill>
              </a:rPr>
              <a:t> </a:t>
            </a:r>
            <a:r>
              <a:rPr lang="en-US" sz="1700">
                <a:solidFill>
                  <a:schemeClr val="dk1"/>
                </a:solidFill>
              </a:rPr>
              <a:t>5.Request failures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1CADE4"/>
                </a:solidFill>
              </a:rPr>
              <a:t> </a:t>
            </a:r>
            <a:r>
              <a:rPr lang="en-US" sz="1700">
                <a:solidFill>
                  <a:schemeClr val="dk1"/>
                </a:solidFill>
              </a:rPr>
              <a:t>6.Each test was run 3 times and averaged.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61ec7e346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Observations: No failures across 161,943 requests. CPU utilization scaled proportionally until 4 pods; at 8 pods CPU per pod dropped, suggesting external bottlenecks.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a61ec7e346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1CADE4"/>
                </a:solidFill>
              </a:rPr>
              <a:t> </a:t>
            </a:r>
            <a:r>
              <a:rPr lang="en-US" sz="1600">
                <a:solidFill>
                  <a:schemeClr val="dk1"/>
                </a:solidFill>
              </a:rPr>
              <a:t>1 → 2 pods: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   	Throughput rose from ~539 messages/sec to ~833 messages/sec (+55%)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1CADE4"/>
                </a:solidFill>
              </a:rPr>
              <a:t> </a:t>
            </a:r>
            <a:r>
              <a:rPr lang="en-US" sz="1600">
                <a:solidFill>
                  <a:srgbClr val="FFFFFF"/>
                </a:solidFill>
              </a:rPr>
              <a:t>  	</a:t>
            </a:r>
            <a:r>
              <a:rPr lang="en-US" sz="1600">
                <a:solidFill>
                  <a:schemeClr val="dk1"/>
                </a:solidFill>
              </a:rPr>
              <a:t>Average processing time dropped from 181 ms to 117 ms, and p95 fell from 650 ms to 470 ms — strong evidence of parallel efficiency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 2 → 4 pods: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   	Throughput remained almost constant (~833 → 824 messages/sec), indicating the system reached near-optimal scaling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   	p95 processing time decreased slightly (470 → 410 ms), showing marginal tail-latency improvement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 4 → 8 pods: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   	Throughput decreased (~824 → 682 messages/sec) and processing time increased (118 → 141 ms, p95 410 → 420 ms)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   	Suggests a resource or I/O bottleneck (e.g., S3 writes, network saturation, or CPU contention on shared nodes)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System stability: 0 failures across 161,943 requests, confirming robust service operation under load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2" name="Google Shape;16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In this experiment, we wanted to see how quickly our system can react when traffic suddenly increases.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We tested four phases: a baseline at 10 messages per second, a medium load at 100, a burst of 1000 messages per second, and finally the recovery period where traffic drops again.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7" name="Google Shape;17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From t</a:t>
            </a:r>
            <a:r>
              <a:rPr lang="en-US">
                <a:solidFill>
                  <a:schemeClr val="dk1"/>
                </a:solidFill>
              </a:rPr>
              <a:t>he first chart we can see how the system reacts during the burst.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At the start, only two pods are running. When the load increases, CPU rises above the HPA target, and the system scales up to eight pods.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The queue briefly spikes to around 45 messages, but the workers clear it by about 135 seconds.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We also see that p95 processing time spikes once during the burst, and then stabilizes around 85 milliseconds.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From the second chart we see the relationship between processing time and queue depth.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When the burst begins, both curves rise quickly, which is expected.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But as new pods come online, queue depth drops and processing time returns to normal.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This confirms that HPA prevents long-term congestion in the system.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This table summarizes all phases.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In medium load, pods grow from 2 to 5, and during the burst, they reach 8.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After the burst ends, the system scales down smoothly with no oscillation.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8" name="Google Shape;19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In terms of successes, HPA prevented a long backlog and kept latency under control.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Scale-down was smooth, and the system stayed stable throughout the test.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However, CPU is an indirect signal — it reacts slower than queue depth.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A better approach would be queue-based autoscaling, for example using KEDA, which could react even faster to sudden bursts.In terms of successes, HPA prevented a long backlog and kept latency under control.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1" name="Google Shape;21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a61ec7e346_13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The goal of Experiment 3 is to understand how the system behaves when failures happen.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We test three scenarios: malformed XML input, an S3 outage, and losing most of our worker pods.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For each scenario, we want to see whether the system isolates the error, continues running, and recovers properly.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29" name="Google Shape;229;g3a61ec7e346_13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a61ec7e346_2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This scenario tests what happens when workers receive invalid XML.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risk here is that one bad message might crash the worker or block other jobs.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The diagram on the right shows the full flow.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Workers pull a message from SQS, fetch the XML from S3, and try to parse it.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When the XML is malformed, the worker immediately returns an error.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It does not retry endlessly or crash.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After the message hits the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maxReceiveCount</a:t>
            </a:r>
            <a:r>
              <a:rPr lang="en-US">
                <a:solidFill>
                  <a:schemeClr val="dk1"/>
                </a:solidFill>
              </a:rPr>
              <a:t> configured in SQS, the queue automatically moves it to the DLQ.</a:t>
            </a:r>
            <a:endParaRPr/>
          </a:p>
        </p:txBody>
      </p:sp>
      <p:sp>
        <p:nvSpPr>
          <p:cNvPr id="244" name="Google Shape;244;g3a61ec7e346_2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a61ec7e346_13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During this test, workers pulled messages from SQS as usual, attempted to parse them, and immediately detected that the XML structure was invalid.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Instead of retrying endlessly or crashing, each worker returned an error once, and SQS automatically moved the message to the DLQ after exceeding the retry limit.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In total, 987 malformed messages were routed to the DLQ, and </a:t>
            </a:r>
            <a:r>
              <a:rPr b="1" lang="en-US">
                <a:solidFill>
                  <a:schemeClr val="dk1"/>
                </a:solidFill>
              </a:rPr>
              <a:t>no pods crashed or restarted</a:t>
            </a:r>
            <a:r>
              <a:rPr lang="en-U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Valid messages continued to be processed normally, confirming that parsing failures are fully isolated.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One improvement we could add is richer DLQ metadata — for example, tagging each failed message with the exact parsing error — so operators can quickly identify bad input sources.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59" name="Google Shape;259;g3a61ec7e346_13_10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a61ec7e346_2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Scenario 2 focuses on what happens when our downstream S3 storage becomes unavailable.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Here, we intentionally removed S3 IAM permissions for two minutes to simulate a real outage. During that time, our conversion pipeline kept running as normal — the only failures were on the upload step.”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68" name="Google Shape;268;g3a61ec7e346_21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“As we can see in results, thanks to SQS’s visibility timeout, </a:t>
            </a:r>
            <a:r>
              <a:rPr b="1" lang="en-US">
                <a:solidFill>
                  <a:schemeClr val="dk1"/>
                </a:solidFill>
              </a:rPr>
              <a:t>no data was lost</a:t>
            </a:r>
            <a:r>
              <a:rPr lang="en-US">
                <a:solidFill>
                  <a:schemeClr val="dk1"/>
                </a:solidFill>
              </a:rPr>
              <a:t> — failed messages simply re-entered the queue and were retried once S3 recovered.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Even during the outage window, we still achieved </a:t>
            </a:r>
            <a:r>
              <a:rPr b="1" lang="en-US">
                <a:solidFill>
                  <a:schemeClr val="dk1"/>
                </a:solidFill>
              </a:rPr>
              <a:t>97.9% conversion success</a:t>
            </a:r>
            <a:r>
              <a:rPr lang="en-US">
                <a:solidFill>
                  <a:schemeClr val="dk1"/>
                </a:solidFill>
              </a:rPr>
              <a:t>, had </a:t>
            </a:r>
            <a:r>
              <a:rPr b="1" lang="en-US">
                <a:solidFill>
                  <a:schemeClr val="dk1"/>
                </a:solidFill>
              </a:rPr>
              <a:t>zero pod crashes</a:t>
            </a:r>
            <a:r>
              <a:rPr lang="en-US">
                <a:solidFill>
                  <a:schemeClr val="dk1"/>
                </a:solidFill>
              </a:rPr>
              <a:t>, and </a:t>
            </a:r>
            <a:r>
              <a:rPr b="1" lang="en-US">
                <a:solidFill>
                  <a:schemeClr val="dk1"/>
                </a:solidFill>
              </a:rPr>
              <a:t>no data loss</a:t>
            </a:r>
            <a:r>
              <a:rPr lang="en-U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And once S3 access was restored, the backlog drained in </a:t>
            </a:r>
            <a:r>
              <a:rPr b="1" lang="en-US">
                <a:solidFill>
                  <a:schemeClr val="dk1"/>
                </a:solidFill>
              </a:rPr>
              <a:t>just 28 seconds</a:t>
            </a:r>
            <a:r>
              <a:rPr lang="en-US">
                <a:solidFill>
                  <a:schemeClr val="dk1"/>
                </a:solidFill>
              </a:rPr>
              <a:t>, showing strong self-healing behavior.”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83" name="Google Shape;28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a61ec7e346_26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“To make this even more robust, we recommend adding a </a:t>
            </a: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circuit-breaker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around S3, which Detect consecutive S3 failures and temporarily pause upload attempts while continuing XML parsing, then periodically test S3 health to avoid wasted retry cycles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can also extend the visibility timeout or add local buffering so the system can safely tolerate disruptions longer than two minutes.”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g3a61ec7e346_26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a61ec7e346_21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“The next scenario explores a more extreme failure: what happens if most of our compute disappears suddenly.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We manually terminated </a:t>
            </a:r>
            <a:r>
              <a:rPr b="1" lang="en-US">
                <a:solidFill>
                  <a:schemeClr val="dk1"/>
                </a:solidFill>
              </a:rPr>
              <a:t>7 out of 8 worker pods</a:t>
            </a:r>
            <a:r>
              <a:rPr lang="en-US">
                <a:solidFill>
                  <a:schemeClr val="dk1"/>
                </a:solidFill>
              </a:rPr>
              <a:t> at t=60, while load stayed at 800 messages per second.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Throughput dropped from </a:t>
            </a:r>
            <a:r>
              <a:rPr b="1" lang="en-US">
                <a:solidFill>
                  <a:schemeClr val="dk1"/>
                </a:solidFill>
              </a:rPr>
              <a:t>824 to 103 msg/s</a:t>
            </a:r>
            <a:r>
              <a:rPr lang="en-US">
                <a:solidFill>
                  <a:schemeClr val="dk1"/>
                </a:solidFill>
              </a:rPr>
              <a:t>, and queue depth spiked to about </a:t>
            </a:r>
            <a:r>
              <a:rPr b="1" lang="en-US">
                <a:solidFill>
                  <a:schemeClr val="dk1"/>
                </a:solidFill>
              </a:rPr>
              <a:t>4,800 messages</a:t>
            </a:r>
            <a:r>
              <a:rPr lang="en-US">
                <a:solidFill>
                  <a:schemeClr val="dk1"/>
                </a:solidFill>
              </a:rPr>
              <a:t> — but again, </a:t>
            </a:r>
            <a:r>
              <a:rPr b="1" lang="en-US">
                <a:solidFill>
                  <a:schemeClr val="dk1"/>
                </a:solidFill>
              </a:rPr>
              <a:t>no messages were lost</a:t>
            </a:r>
            <a:r>
              <a:rPr lang="en-US">
                <a:solidFill>
                  <a:schemeClr val="dk1"/>
                </a:solidFill>
              </a:rPr>
              <a:t>, and the one surviving pod continued processing.”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07" name="Google Shape;307;g3a61ec7e346_21_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a61ec7e346_13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“The main limitation we found is recovery speed.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Because CPU-based HPA reacts slowly, it took around </a:t>
            </a:r>
            <a:r>
              <a:rPr b="1" lang="en-US">
                <a:solidFill>
                  <a:schemeClr val="dk1"/>
                </a:solidFill>
              </a:rPr>
              <a:t>240 seconds</a:t>
            </a:r>
            <a:r>
              <a:rPr lang="en-US">
                <a:solidFill>
                  <a:schemeClr val="dk1"/>
                </a:solidFill>
              </a:rPr>
              <a:t> for the system to scale back up to full capacity.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During that time, both latency and queue depth remained high.”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To address this, we could potentially switching from CPU-based HPA to </a:t>
            </a:r>
            <a:r>
              <a:rPr b="1" lang="en-US">
                <a:solidFill>
                  <a:schemeClr val="dk1"/>
                </a:solidFill>
              </a:rPr>
              <a:t>KEDA</a:t>
            </a:r>
            <a:r>
              <a:rPr lang="en-US">
                <a:solidFill>
                  <a:schemeClr val="dk1"/>
                </a:solidFill>
              </a:rPr>
              <a:t> (</a:t>
            </a:r>
            <a:r>
              <a:rPr lang="en-US">
                <a:solidFill>
                  <a:schemeClr val="dk1"/>
                </a:solidFill>
              </a:rPr>
              <a:t>Kubernetes</a:t>
            </a:r>
            <a:r>
              <a:rPr lang="en-US">
                <a:solidFill>
                  <a:schemeClr val="dk1"/>
                </a:solidFill>
              </a:rPr>
              <a:t> event-driven auto-scaling) using queue depth as the scaling signal. This would allow pods to scale </a:t>
            </a:r>
            <a:r>
              <a:rPr i="1" lang="en-US">
                <a:solidFill>
                  <a:schemeClr val="dk1"/>
                </a:solidFill>
              </a:rPr>
              <a:t>before</a:t>
            </a:r>
            <a:r>
              <a:rPr lang="en-US">
                <a:solidFill>
                  <a:schemeClr val="dk1"/>
                </a:solidFill>
              </a:rPr>
              <a:t> queues explode and reduce recovery time from 240 seconds down to roughly 45 seconds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320" name="Google Shape;320;g3a61ec7e346_13_1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“Across all scenarios, the system showed consistent resilience.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SQS’s visibility timeout acted as a reliable buffer, ensuring </a:t>
            </a:r>
            <a:r>
              <a:rPr b="1" lang="en-US">
                <a:solidFill>
                  <a:schemeClr val="dk1"/>
                </a:solidFill>
              </a:rPr>
              <a:t>zero data loss</a:t>
            </a:r>
            <a:r>
              <a:rPr lang="en-US">
                <a:solidFill>
                  <a:schemeClr val="dk1"/>
                </a:solidFill>
              </a:rPr>
              <a:t> even when downstream dependencies failed or when most pods were terminated.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Once the failing component recovered, the system drained backlogs quickly.”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29" name="Google Shape;32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“To conclude, our service is: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chemeClr val="dk1"/>
                </a:solidFill>
              </a:rPr>
              <a:t>Scalable</a:t>
            </a:r>
            <a:r>
              <a:rPr lang="en-US">
                <a:solidFill>
                  <a:schemeClr val="dk1"/>
                </a:solidFill>
              </a:rPr>
              <a:t>, validated up to ~830 RPS,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chemeClr val="dk1"/>
                </a:solidFill>
              </a:rPr>
              <a:t>Elastic</a:t>
            </a:r>
            <a:r>
              <a:rPr lang="en-US">
                <a:solidFill>
                  <a:schemeClr val="dk1"/>
                </a:solidFill>
              </a:rPr>
              <a:t>, handling burst loads up to 100×, and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chemeClr val="dk1"/>
                </a:solidFill>
              </a:rPr>
              <a:t>Resilient</a:t>
            </a:r>
            <a:r>
              <a:rPr lang="en-US">
                <a:solidFill>
                  <a:schemeClr val="dk1"/>
                </a:solidFill>
              </a:rPr>
              <a:t>, tolerating downstream failures and severe pod crashes with no data loss.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With improvements like KEDA for queue-depth-based </a:t>
            </a:r>
            <a:r>
              <a:rPr lang="en-US">
                <a:solidFill>
                  <a:schemeClr val="dk1"/>
                </a:solidFill>
              </a:rPr>
              <a:t>auto scaling</a:t>
            </a:r>
            <a:r>
              <a:rPr lang="en-US">
                <a:solidFill>
                  <a:schemeClr val="dk1"/>
                </a:solidFill>
              </a:rPr>
              <a:t> and a circuit-breaker for S3, we can make recovery even faster and more efficient.”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42" name="Google Shape;34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a61ec7e346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g3a61ec7e346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2.png"/><Relationship Id="rId7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30.png"/><Relationship Id="rId5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20.png"/><Relationship Id="rId5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Relationship Id="rId5" Type="http://schemas.openxmlformats.org/officeDocument/2006/relationships/image" Target="../media/image3.png"/><Relationship Id="rId6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25.png"/><Relationship Id="rId5" Type="http://schemas.openxmlformats.org/officeDocument/2006/relationships/image" Target="../media/image5.png"/><Relationship Id="rId6" Type="http://schemas.openxmlformats.org/officeDocument/2006/relationships/image" Target="../media/image15.png"/><Relationship Id="rId7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8.png"/><Relationship Id="rId5" Type="http://schemas.openxmlformats.org/officeDocument/2006/relationships/image" Target="../media/image46.png"/><Relationship Id="rId6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21.png"/><Relationship Id="rId5" Type="http://schemas.openxmlformats.org/officeDocument/2006/relationships/image" Target="../media/image28.png"/><Relationship Id="rId6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17.png"/><Relationship Id="rId5" Type="http://schemas.openxmlformats.org/officeDocument/2006/relationships/image" Target="../media/image19.png"/><Relationship Id="rId6" Type="http://schemas.openxmlformats.org/officeDocument/2006/relationships/image" Target="../media/image35.png"/><Relationship Id="rId7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34.png"/><Relationship Id="rId5" Type="http://schemas.openxmlformats.org/officeDocument/2006/relationships/image" Target="../media/image2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26.png"/><Relationship Id="rId5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Relationship Id="rId4" Type="http://schemas.openxmlformats.org/officeDocument/2006/relationships/image" Target="../media/image44.png"/><Relationship Id="rId5" Type="http://schemas.openxmlformats.org/officeDocument/2006/relationships/image" Target="../media/image4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Relationship Id="rId4" Type="http://schemas.openxmlformats.org/officeDocument/2006/relationships/image" Target="../media/image34.png"/><Relationship Id="rId5" Type="http://schemas.openxmlformats.org/officeDocument/2006/relationships/image" Target="../media/image3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Relationship Id="rId4" Type="http://schemas.openxmlformats.org/officeDocument/2006/relationships/image" Target="../media/image45.png"/><Relationship Id="rId5" Type="http://schemas.openxmlformats.org/officeDocument/2006/relationships/image" Target="../media/image4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Relationship Id="rId4" Type="http://schemas.openxmlformats.org/officeDocument/2006/relationships/image" Target="../media/image27.png"/><Relationship Id="rId5" Type="http://schemas.openxmlformats.org/officeDocument/2006/relationships/image" Target="../media/image23.png"/><Relationship Id="rId6" Type="http://schemas.openxmlformats.org/officeDocument/2006/relationships/image" Target="../media/image31.png"/><Relationship Id="rId7" Type="http://schemas.openxmlformats.org/officeDocument/2006/relationships/image" Target="../media/image3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Relationship Id="rId4" Type="http://schemas.openxmlformats.org/officeDocument/2006/relationships/image" Target="../media/image2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Relationship Id="rId4" Type="http://schemas.openxmlformats.org/officeDocument/2006/relationships/image" Target="../media/image49.png"/><Relationship Id="rId5" Type="http://schemas.openxmlformats.org/officeDocument/2006/relationships/image" Target="../media/image4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Relationship Id="rId4" Type="http://schemas.openxmlformats.org/officeDocument/2006/relationships/image" Target="../media/image40.png"/><Relationship Id="rId5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Relationship Id="rId4" Type="http://schemas.openxmlformats.org/officeDocument/2006/relationships/image" Target="../media/image39.png"/><Relationship Id="rId9" Type="http://schemas.openxmlformats.org/officeDocument/2006/relationships/image" Target="../media/image42.png"/><Relationship Id="rId5" Type="http://schemas.openxmlformats.org/officeDocument/2006/relationships/image" Target="../media/image38.png"/><Relationship Id="rId6" Type="http://schemas.openxmlformats.org/officeDocument/2006/relationships/image" Target="../media/image37.png"/><Relationship Id="rId7" Type="http://schemas.openxmlformats.org/officeDocument/2006/relationships/image" Target="../media/image41.png"/><Relationship Id="rId8" Type="http://schemas.openxmlformats.org/officeDocument/2006/relationships/image" Target="../media/image3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820590" y="1549747"/>
            <a:ext cx="6550818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XML-to-JSON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Converter Service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976562" y="3416647"/>
            <a:ext cx="6238875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Scalable • Distributed • Cloud-Native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976562" y="4110037"/>
            <a:ext cx="62388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ADE80"/>
                </a:solidFill>
                <a:latin typeface="Inter Medium"/>
                <a:ea typeface="Inter Medium"/>
                <a:cs typeface="Inter Medium"/>
                <a:sym typeface="Inter Medium"/>
              </a:rPr>
              <a:t>Yolanda • Lilian • Yuhao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976562" y="4862512"/>
            <a:ext cx="62388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Parser Team Project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05000"/>
            <a:ext cx="5238750" cy="39318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905000"/>
            <a:ext cx="5238750" cy="39318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229552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962025" y="2867025"/>
            <a:ext cx="468058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The Problem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962025" y="3350865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Legacy DevOps tools (Jenkins, Maven) produce XML logs.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62025" y="4150965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Modern monitoring systems (ELK, Loki) require JSON.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62025" y="4951065"/>
            <a:ext cx="4457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Gap: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Inefficient observability pipelines.</a:t>
            </a:r>
            <a:endParaRPr/>
          </a:p>
        </p:txBody>
      </p:sp>
      <p:pic>
        <p:nvPicPr>
          <p:cNvPr descr="image.png" id="101" name="Google Shape;101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72275" y="229552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6772275" y="2867025"/>
            <a:ext cx="468058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The Solution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772275" y="3350865"/>
            <a:ext cx="4457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High-performance conversion service.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772275" y="3846165"/>
            <a:ext cx="4457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Running on Kubernetes (EKS).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772275" y="4341465"/>
            <a:ext cx="4457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Integrated with AWS (S3, SQS).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762000" y="571500"/>
            <a:ext cx="11401425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Project Overview</a:t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571500" y="571500"/>
            <a:ext cx="47625" cy="50289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2" name="Google Shape;11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762000" y="443954"/>
            <a:ext cx="11401425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System Architecture</a:t>
            </a: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571500" y="443954"/>
            <a:ext cx="47625" cy="50289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" name="Google Shape;11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31693" y="1338300"/>
            <a:ext cx="5208852" cy="519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1500" y="1816438"/>
            <a:ext cx="3582975" cy="423984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/>
          <p:nvPr/>
        </p:nvSpPr>
        <p:spPr>
          <a:xfrm>
            <a:off x="4655500" y="4018775"/>
            <a:ext cx="1179600" cy="313200"/>
          </a:xfrm>
          <a:prstGeom prst="rightArrow">
            <a:avLst>
              <a:gd fmla="val 26676" name="adj1"/>
              <a:gd fmla="val 6001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2" name="Google Shape;12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762000" y="443954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Data Flow Chart</a:t>
            </a:r>
            <a:endParaRPr/>
          </a:p>
        </p:txBody>
      </p:sp>
      <p:sp>
        <p:nvSpPr>
          <p:cNvPr id="124" name="Google Shape;124;p16"/>
          <p:cNvSpPr/>
          <p:nvPr/>
        </p:nvSpPr>
        <p:spPr>
          <a:xfrm>
            <a:off x="571500" y="443954"/>
            <a:ext cx="47700" cy="502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" name="Google Shape;12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07501" y="1147300"/>
            <a:ext cx="4894151" cy="539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 title="Blank diagram (1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9200" y="1826449"/>
            <a:ext cx="3900600" cy="39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/>
          <p:nvPr/>
        </p:nvSpPr>
        <p:spPr>
          <a:xfrm>
            <a:off x="4973850" y="3689475"/>
            <a:ext cx="1179600" cy="313200"/>
          </a:xfrm>
          <a:prstGeom prst="rightArrow">
            <a:avLst>
              <a:gd fmla="val 26676" name="adj1"/>
              <a:gd fmla="val 6001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2" name="Google Shape;13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 txBox="1"/>
          <p:nvPr/>
        </p:nvSpPr>
        <p:spPr>
          <a:xfrm>
            <a:off x="571500" y="2377380"/>
            <a:ext cx="5500687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Purpose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571500" y="2861220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Measure throughput (RPS) and latency scaling limits.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571500" y="3547020"/>
            <a:ext cx="5500687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Method</a:t>
            </a:r>
            <a:endParaRPr/>
          </a:p>
        </p:txBody>
      </p:sp>
      <p:pic>
        <p:nvPicPr>
          <p:cNvPr descr="image.png" id="136" name="Google Shape;13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86905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556545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847725" y="399276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952500" y="3992760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Platform: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AWS EKS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847725" y="429756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952500" y="4297560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Scaling: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1 → 2 → 4 → 8 Pods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847725" y="460236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952500" y="4602360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Load Tool: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Locust (HTTP POST)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847725" y="490716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952500" y="4907160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Metrics: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RPS, p95 Latency, CPU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762000" y="571500"/>
            <a:ext cx="11401425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Exp 1: Horizontal Scalability</a:t>
            </a:r>
            <a:endParaRPr/>
          </a:p>
        </p:txBody>
      </p:sp>
      <p:sp>
        <p:nvSpPr>
          <p:cNvPr id="147" name="Google Shape;147;p17"/>
          <p:cNvSpPr/>
          <p:nvPr/>
        </p:nvSpPr>
        <p:spPr>
          <a:xfrm>
            <a:off x="571500" y="571500"/>
            <a:ext cx="47625" cy="50289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8" name="Google Shape;14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97675" y="2213525"/>
            <a:ext cx="5722825" cy="322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3" name="Google Shape;15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8"/>
          <p:cNvSpPr txBox="1"/>
          <p:nvPr/>
        </p:nvSpPr>
        <p:spPr>
          <a:xfrm>
            <a:off x="762000" y="571500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Exp 1 Results</a:t>
            </a:r>
            <a:endParaRPr/>
          </a:p>
        </p:txBody>
      </p:sp>
      <p:sp>
        <p:nvSpPr>
          <p:cNvPr id="155" name="Google Shape;155;p18"/>
          <p:cNvSpPr/>
          <p:nvPr/>
        </p:nvSpPr>
        <p:spPr>
          <a:xfrm>
            <a:off x="571500" y="571500"/>
            <a:ext cx="47700" cy="502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6" name="Google Shape;15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2000" y="1363250"/>
            <a:ext cx="5803725" cy="18106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2000" y="3565724"/>
            <a:ext cx="5803725" cy="275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63600" y="1356525"/>
            <a:ext cx="4048250" cy="181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885451" y="3565725"/>
            <a:ext cx="4885889" cy="275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4" name="Google Shape;16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9"/>
          <p:cNvSpPr txBox="1"/>
          <p:nvPr/>
        </p:nvSpPr>
        <p:spPr>
          <a:xfrm>
            <a:off x="952500" y="2834729"/>
            <a:ext cx="10668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Parallel Efficiency:</a:t>
            </a:r>
            <a:r>
              <a:rPr b="0" i="0" lang="en-US" sz="18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1 → 2 pods saw +55% throughput increase.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952500" y="3390900"/>
            <a:ext cx="10668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Optimal Scale:</a:t>
            </a:r>
            <a:r>
              <a:rPr b="0" i="0" lang="en-US" sz="18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Peak performance achieved at 2-4 pods (~830 RPS).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952500" y="3947070"/>
            <a:ext cx="10668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Diminishing Returns:</a:t>
            </a:r>
            <a:r>
              <a:rPr b="0" i="0" lang="en-US" sz="18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8 pods caused performance regression.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952500" y="4503241"/>
            <a:ext cx="10668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Bottleneck Identified:</a:t>
            </a:r>
            <a:r>
              <a:rPr b="0" i="0" lang="en-US" sz="18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External I/O (S3 writes) or Network saturation, not CPU.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762000" y="571500"/>
            <a:ext cx="11401425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Exp 1 Analysis</a:t>
            </a:r>
            <a:endParaRPr/>
          </a:p>
        </p:txBody>
      </p:sp>
      <p:sp>
        <p:nvSpPr>
          <p:cNvPr id="170" name="Google Shape;170;p19"/>
          <p:cNvSpPr/>
          <p:nvPr/>
        </p:nvSpPr>
        <p:spPr>
          <a:xfrm>
            <a:off x="571500" y="571500"/>
            <a:ext cx="47625" cy="50289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1" name="Google Shape;17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34729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3909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94707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503241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9" name="Google Shape;17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42719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78200" y="442719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84901" y="442719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391602" y="442719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295275" y="3086100"/>
            <a:ext cx="116014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Test Phases (1000 msg/s Burst)</a:t>
            </a:r>
            <a:endParaRPr/>
          </a:p>
        </p:txBody>
      </p:sp>
      <p:sp>
        <p:nvSpPr>
          <p:cNvPr id="185" name="Google Shape;185;p20"/>
          <p:cNvSpPr/>
          <p:nvPr/>
        </p:nvSpPr>
        <p:spPr>
          <a:xfrm>
            <a:off x="571500" y="4522440"/>
            <a:ext cx="11049000" cy="38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-314325" y="3703290"/>
            <a:ext cx="20002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Baseline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-266700" y="418713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10 msg/s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3292375" y="4846290"/>
            <a:ext cx="20002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Medium Load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3340000" y="533013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100 msg/s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6899076" y="3703290"/>
            <a:ext cx="20002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7171"/>
                </a:solidFill>
                <a:latin typeface="Urbanist"/>
                <a:ea typeface="Urbanist"/>
                <a:cs typeface="Urbanist"/>
                <a:sym typeface="Urbanist"/>
              </a:rPr>
              <a:t>Burst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6946701" y="418713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1000 msg/s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10686603" y="4846290"/>
            <a:ext cx="1638597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Scale Down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10686603" y="5330130"/>
            <a:ext cx="163859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Recovery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762000" y="571500"/>
            <a:ext cx="11401425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Exp 2: Elasticity</a:t>
            </a:r>
            <a:endParaRPr/>
          </a:p>
        </p:txBody>
      </p:sp>
      <p:sp>
        <p:nvSpPr>
          <p:cNvPr id="195" name="Google Shape;195;p20"/>
          <p:cNvSpPr/>
          <p:nvPr/>
        </p:nvSpPr>
        <p:spPr>
          <a:xfrm>
            <a:off x="571500" y="571500"/>
            <a:ext cx="47625" cy="50289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0" name="Google Shape;20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1"/>
          <p:cNvSpPr txBox="1"/>
          <p:nvPr/>
        </p:nvSpPr>
        <p:spPr>
          <a:xfrm>
            <a:off x="6762750" y="1702449"/>
            <a:ext cx="485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Rapid Scale-Up: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Pods increased 2 → 8 during burst.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6762750" y="2454924"/>
            <a:ext cx="485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Queue Mgmt: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Peaked at 45 msgs, cleared by 135s.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6762750" y="3207399"/>
            <a:ext cx="485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Stable Latency: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p95 stabilized at ≈85ms after initial spike.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762000" y="571500"/>
            <a:ext cx="11401425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Exp 2 Results: Scaling Response</a:t>
            </a:r>
            <a:endParaRPr/>
          </a:p>
        </p:txBody>
      </p:sp>
      <p:sp>
        <p:nvSpPr>
          <p:cNvPr id="205" name="Google Shape;205;p21"/>
          <p:cNvSpPr/>
          <p:nvPr/>
        </p:nvSpPr>
        <p:spPr>
          <a:xfrm>
            <a:off x="571500" y="571500"/>
            <a:ext cx="47625" cy="50289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6" name="Google Shape;20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5800" y="1504125"/>
            <a:ext cx="5894750" cy="242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5800" y="4175675"/>
            <a:ext cx="5894750" cy="248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62750" y="4175675"/>
            <a:ext cx="4934831" cy="248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00300"/>
            <a:ext cx="5238750" cy="29412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400300"/>
            <a:ext cx="5238750" cy="29412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2809875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2"/>
          <p:cNvSpPr txBox="1"/>
          <p:nvPr/>
        </p:nvSpPr>
        <p:spPr>
          <a:xfrm>
            <a:off x="962025" y="2981325"/>
            <a:ext cx="468058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Successes</a:t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962025" y="3465165"/>
            <a:ext cx="4457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HPA prevented long-term backlog.</a:t>
            </a:r>
            <a:endParaRPr/>
          </a:p>
        </p:txBody>
      </p:sp>
      <p:sp>
        <p:nvSpPr>
          <p:cNvPr id="219" name="Google Shape;219;p22"/>
          <p:cNvSpPr txBox="1"/>
          <p:nvPr/>
        </p:nvSpPr>
        <p:spPr>
          <a:xfrm>
            <a:off x="962025" y="3960465"/>
            <a:ext cx="4457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Balanced throughput vs. resource cost.</a:t>
            </a:r>
            <a:endParaRPr/>
          </a:p>
        </p:txBody>
      </p:sp>
      <p:sp>
        <p:nvSpPr>
          <p:cNvPr id="220" name="Google Shape;220;p22"/>
          <p:cNvSpPr txBox="1"/>
          <p:nvPr/>
        </p:nvSpPr>
        <p:spPr>
          <a:xfrm>
            <a:off x="962025" y="4455765"/>
            <a:ext cx="4457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Smooth scale-down (no oscillation).</a:t>
            </a:r>
            <a:endParaRPr/>
          </a:p>
        </p:txBody>
      </p:sp>
      <p:pic>
        <p:nvPicPr>
          <p:cNvPr descr="image.png" id="221" name="Google Shape;221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72275" y="2809875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2"/>
          <p:cNvSpPr txBox="1"/>
          <p:nvPr/>
        </p:nvSpPr>
        <p:spPr>
          <a:xfrm>
            <a:off x="6772275" y="2981325"/>
            <a:ext cx="468058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Limitations</a:t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6772275" y="3465165"/>
            <a:ext cx="4457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CPU is an indirect load signal.</a:t>
            </a:r>
            <a:endParaRPr/>
          </a:p>
        </p:txBody>
      </p:sp>
      <p:sp>
        <p:nvSpPr>
          <p:cNvPr id="224" name="Google Shape;224;p22"/>
          <p:cNvSpPr txBox="1"/>
          <p:nvPr/>
        </p:nvSpPr>
        <p:spPr>
          <a:xfrm>
            <a:off x="6772275" y="3960465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Recommendation: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Use KEDA for queue-depth based autoscaling for faster reaction.</a:t>
            </a:r>
            <a:endParaRPr/>
          </a:p>
        </p:txBody>
      </p:sp>
      <p:sp>
        <p:nvSpPr>
          <p:cNvPr id="225" name="Google Shape;225;p22"/>
          <p:cNvSpPr txBox="1"/>
          <p:nvPr/>
        </p:nvSpPr>
        <p:spPr>
          <a:xfrm>
            <a:off x="762000" y="571500"/>
            <a:ext cx="11401425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Exp 2 Analysis</a:t>
            </a:r>
            <a:endParaRPr/>
          </a:p>
        </p:txBody>
      </p:sp>
      <p:sp>
        <p:nvSpPr>
          <p:cNvPr id="226" name="Google Shape;226;p22"/>
          <p:cNvSpPr/>
          <p:nvPr/>
        </p:nvSpPr>
        <p:spPr>
          <a:xfrm>
            <a:off x="571500" y="571500"/>
            <a:ext cx="47625" cy="50289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1" name="Google Shape;23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3"/>
          <p:cNvSpPr txBox="1"/>
          <p:nvPr/>
        </p:nvSpPr>
        <p:spPr>
          <a:xfrm>
            <a:off x="291213" y="440800"/>
            <a:ext cx="11401500" cy="1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3600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Exp 3: Fault Tolerance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F1F5F9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233" name="Google Shape;233;p23"/>
          <p:cNvSpPr/>
          <p:nvPr/>
        </p:nvSpPr>
        <p:spPr>
          <a:xfrm>
            <a:off x="571500" y="571500"/>
            <a:ext cx="47700" cy="502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4" name="Google Shape;234;p23"/>
          <p:cNvGrpSpPr/>
          <p:nvPr/>
        </p:nvGrpSpPr>
        <p:grpSpPr>
          <a:xfrm>
            <a:off x="4226243" y="2090732"/>
            <a:ext cx="3531422" cy="3560415"/>
            <a:chOff x="6238872" y="2090719"/>
            <a:chExt cx="3531422" cy="3560415"/>
          </a:xfrm>
        </p:grpSpPr>
        <p:pic>
          <p:nvPicPr>
            <p:cNvPr descr="image.png" id="235" name="Google Shape;235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238872" y="2090719"/>
              <a:ext cx="3531422" cy="35604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6" name="Google Shape;236;p23"/>
            <p:cNvSpPr txBox="1"/>
            <p:nvPr/>
          </p:nvSpPr>
          <p:spPr>
            <a:xfrm>
              <a:off x="6419659" y="3586894"/>
              <a:ext cx="31698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00" u="none" cap="none" strike="noStrike">
                  <a:solidFill>
                    <a:srgbClr val="CA8A04"/>
                  </a:solidFill>
                  <a:latin typeface="Urbanist"/>
                  <a:ea typeface="Urbanist"/>
                  <a:cs typeface="Urbanist"/>
                  <a:sym typeface="Urbanist"/>
                </a:rPr>
                <a:t>Scenario 2: S3 Outage</a:t>
              </a:r>
              <a:endParaRPr/>
            </a:p>
          </p:txBody>
        </p:sp>
      </p:grpSp>
      <p:pic>
        <p:nvPicPr>
          <p:cNvPr descr="image.png" id="237" name="Google Shape;237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18432" y="2090725"/>
            <a:ext cx="3922575" cy="3560425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3"/>
          <p:cNvSpPr txBox="1"/>
          <p:nvPr/>
        </p:nvSpPr>
        <p:spPr>
          <a:xfrm>
            <a:off x="8130232" y="3603146"/>
            <a:ext cx="550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D4ED8"/>
                </a:solidFill>
                <a:latin typeface="Urbanist"/>
                <a:ea typeface="Urbanist"/>
                <a:cs typeface="Urbanist"/>
                <a:sym typeface="Urbanist"/>
              </a:rPr>
              <a:t>Scenario 3: 7/8 Pods Dropped</a:t>
            </a:r>
            <a:endParaRPr/>
          </a:p>
        </p:txBody>
      </p:sp>
      <p:grpSp>
        <p:nvGrpSpPr>
          <p:cNvPr id="239" name="Google Shape;239;p23"/>
          <p:cNvGrpSpPr/>
          <p:nvPr/>
        </p:nvGrpSpPr>
        <p:grpSpPr>
          <a:xfrm>
            <a:off x="225773" y="2090734"/>
            <a:ext cx="3739691" cy="3560415"/>
            <a:chOff x="571500" y="2090737"/>
            <a:chExt cx="5381625" cy="3560415"/>
          </a:xfrm>
        </p:grpSpPr>
        <p:pic>
          <p:nvPicPr>
            <p:cNvPr descr="image.png" id="240" name="Google Shape;240;p2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71500" y="2090737"/>
              <a:ext cx="5381625" cy="35604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" name="Google Shape;241;p23"/>
            <p:cNvSpPr txBox="1"/>
            <p:nvPr/>
          </p:nvSpPr>
          <p:spPr>
            <a:xfrm>
              <a:off x="847026" y="3586912"/>
              <a:ext cx="48306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00" u="none" cap="none" strike="noStrike">
                  <a:solidFill>
                    <a:srgbClr val="B91C1C"/>
                  </a:solidFill>
                  <a:latin typeface="Urbanist"/>
                  <a:ea typeface="Urbanist"/>
                  <a:cs typeface="Urbanist"/>
                  <a:sym typeface="Urbanist"/>
                </a:rPr>
                <a:t>Scenario 1: Malformed XML</a:t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6" name="Google Shape;24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4"/>
          <p:cNvSpPr txBox="1"/>
          <p:nvPr/>
        </p:nvSpPr>
        <p:spPr>
          <a:xfrm>
            <a:off x="762000" y="571500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Exp 3 Results: </a:t>
            </a:r>
            <a:r>
              <a:rPr lang="en-US" sz="3600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Malformed XML Input</a:t>
            </a:r>
            <a:endParaRPr/>
          </a:p>
        </p:txBody>
      </p:sp>
      <p:sp>
        <p:nvSpPr>
          <p:cNvPr id="248" name="Google Shape;248;p24"/>
          <p:cNvSpPr/>
          <p:nvPr/>
        </p:nvSpPr>
        <p:spPr>
          <a:xfrm>
            <a:off x="571500" y="571500"/>
            <a:ext cx="47700" cy="502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9" name="Google Shape;249;p24"/>
          <p:cNvGrpSpPr/>
          <p:nvPr/>
        </p:nvGrpSpPr>
        <p:grpSpPr>
          <a:xfrm>
            <a:off x="619183" y="1756169"/>
            <a:ext cx="5745961" cy="3560415"/>
            <a:chOff x="571500" y="2090737"/>
            <a:chExt cx="5381625" cy="3560415"/>
          </a:xfrm>
        </p:grpSpPr>
        <p:pic>
          <p:nvPicPr>
            <p:cNvPr descr="image.png" id="250" name="Google Shape;250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71500" y="2090737"/>
              <a:ext cx="5381625" cy="35604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1" name="Google Shape;251;p24"/>
            <p:cNvSpPr txBox="1"/>
            <p:nvPr/>
          </p:nvSpPr>
          <p:spPr>
            <a:xfrm>
              <a:off x="962025" y="2481262"/>
              <a:ext cx="48306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00" u="none" cap="none" strike="noStrike">
                  <a:solidFill>
                    <a:srgbClr val="B91C1C"/>
                  </a:solidFill>
                  <a:latin typeface="Urbanist"/>
                  <a:ea typeface="Urbanist"/>
                  <a:cs typeface="Urbanist"/>
                  <a:sym typeface="Urbanist"/>
                </a:rPr>
                <a:t>Scenario 1: Malformed XML</a:t>
              </a:r>
              <a:endParaRPr/>
            </a:p>
          </p:txBody>
        </p:sp>
        <p:sp>
          <p:nvSpPr>
            <p:cNvPr id="252" name="Google Shape;252;p24"/>
            <p:cNvSpPr txBox="1"/>
            <p:nvPr/>
          </p:nvSpPr>
          <p:spPr>
            <a:xfrm>
              <a:off x="962025" y="2965102"/>
              <a:ext cx="46005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987 (98.7%)</a:t>
              </a:r>
              <a:r>
                <a:rPr b="0" i="0" lang="en-US" sz="1500" u="none" cap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bad messages detected &amp; moved to </a:t>
              </a:r>
              <a:r>
                <a:rPr b="1" i="0" lang="en-US" sz="1500" u="none" cap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DLQ</a:t>
              </a:r>
              <a:r>
                <a:rPr b="0" i="0" lang="en-US" sz="1500" u="none" cap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/>
            </a:p>
          </p:txBody>
        </p:sp>
        <p:sp>
          <p:nvSpPr>
            <p:cNvPr id="253" name="Google Shape;253;p24"/>
            <p:cNvSpPr txBox="1"/>
            <p:nvPr/>
          </p:nvSpPr>
          <p:spPr>
            <a:xfrm>
              <a:off x="962025" y="3765202"/>
              <a:ext cx="4600500" cy="2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0</a:t>
              </a:r>
              <a:r>
                <a:rPr b="0" i="0" lang="en-US" sz="1500" u="none" cap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Pod crashes.</a:t>
              </a:r>
              <a:endParaRPr/>
            </a:p>
          </p:txBody>
        </p:sp>
        <p:sp>
          <p:nvSpPr>
            <p:cNvPr id="254" name="Google Shape;254;p24"/>
            <p:cNvSpPr/>
            <p:nvPr/>
          </p:nvSpPr>
          <p:spPr>
            <a:xfrm>
              <a:off x="962025" y="4260502"/>
              <a:ext cx="4600500" cy="9600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p24"/>
            <p:cNvSpPr txBox="1"/>
            <p:nvPr/>
          </p:nvSpPr>
          <p:spPr>
            <a:xfrm>
              <a:off x="712582" y="4460527"/>
              <a:ext cx="4600500" cy="2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28575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Clean Isolation:</a:t>
              </a:r>
              <a:r>
                <a:rPr b="0" i="0" lang="en-US" sz="1500" u="none" cap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Parsing failures did not cascade.</a:t>
              </a:r>
              <a:endParaRPr/>
            </a:p>
          </p:txBody>
        </p:sp>
      </p:grpSp>
      <p:pic>
        <p:nvPicPr>
          <p:cNvPr id="256" name="Google Shape;256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07501" y="1147300"/>
            <a:ext cx="4894151" cy="539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1" name="Google Shape;26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5"/>
          <p:cNvSpPr txBox="1"/>
          <p:nvPr/>
        </p:nvSpPr>
        <p:spPr>
          <a:xfrm>
            <a:off x="762000" y="571500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Exp 3 Results: </a:t>
            </a:r>
            <a:r>
              <a:rPr lang="en-US" sz="3600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Malformed XML Input</a:t>
            </a:r>
            <a:endParaRPr/>
          </a:p>
        </p:txBody>
      </p:sp>
      <p:sp>
        <p:nvSpPr>
          <p:cNvPr id="263" name="Google Shape;263;p25"/>
          <p:cNvSpPr/>
          <p:nvPr/>
        </p:nvSpPr>
        <p:spPr>
          <a:xfrm>
            <a:off x="571500" y="571500"/>
            <a:ext cx="47700" cy="502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4" name="Google Shape;26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000" y="1749475"/>
            <a:ext cx="5217100" cy="331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02700" y="1749475"/>
            <a:ext cx="5328992" cy="331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0" name="Google Shape;27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6"/>
          <p:cNvSpPr txBox="1"/>
          <p:nvPr/>
        </p:nvSpPr>
        <p:spPr>
          <a:xfrm>
            <a:off x="762000" y="571500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Exp 3 Results: </a:t>
            </a:r>
            <a:r>
              <a:rPr lang="en-US" sz="3600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S3 Service Outage</a:t>
            </a:r>
            <a:endParaRPr/>
          </a:p>
        </p:txBody>
      </p:sp>
      <p:sp>
        <p:nvSpPr>
          <p:cNvPr id="272" name="Google Shape;272;p26"/>
          <p:cNvSpPr/>
          <p:nvPr/>
        </p:nvSpPr>
        <p:spPr>
          <a:xfrm>
            <a:off x="571500" y="571500"/>
            <a:ext cx="47700" cy="502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3" name="Google Shape;273;p26"/>
          <p:cNvGrpSpPr/>
          <p:nvPr/>
        </p:nvGrpSpPr>
        <p:grpSpPr>
          <a:xfrm>
            <a:off x="699583" y="1909494"/>
            <a:ext cx="9810291" cy="3560415"/>
            <a:chOff x="6238872" y="2090719"/>
            <a:chExt cx="3531422" cy="3560415"/>
          </a:xfrm>
        </p:grpSpPr>
        <p:pic>
          <p:nvPicPr>
            <p:cNvPr descr="image.png" id="274" name="Google Shape;274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238872" y="2090719"/>
              <a:ext cx="3531422" cy="35604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5" name="Google Shape;275;p26"/>
            <p:cNvSpPr txBox="1"/>
            <p:nvPr/>
          </p:nvSpPr>
          <p:spPr>
            <a:xfrm>
              <a:off x="6495134" y="2481244"/>
              <a:ext cx="31698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00" u="none" cap="none" strike="noStrike">
                  <a:solidFill>
                    <a:srgbClr val="CA8A04"/>
                  </a:solidFill>
                  <a:latin typeface="Urbanist"/>
                  <a:ea typeface="Urbanist"/>
                  <a:cs typeface="Urbanist"/>
                  <a:sym typeface="Urbanist"/>
                </a:rPr>
                <a:t>Scenario 2: S3 Outage</a:t>
              </a:r>
              <a:endParaRPr/>
            </a:p>
          </p:txBody>
        </p:sp>
        <p:sp>
          <p:nvSpPr>
            <p:cNvPr id="276" name="Google Shape;276;p26"/>
            <p:cNvSpPr txBox="1"/>
            <p:nvPr/>
          </p:nvSpPr>
          <p:spPr>
            <a:xfrm>
              <a:off x="6495134" y="2965084"/>
              <a:ext cx="3018900" cy="2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97.9%</a:t>
              </a:r>
              <a:r>
                <a:rPr b="0" i="0" lang="en-US" sz="1500" u="none" cap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conversion success during outage.</a:t>
              </a:r>
              <a:endParaRPr/>
            </a:p>
          </p:txBody>
        </p:sp>
        <p:sp>
          <p:nvSpPr>
            <p:cNvPr id="277" name="Google Shape;277;p26"/>
            <p:cNvSpPr txBox="1"/>
            <p:nvPr/>
          </p:nvSpPr>
          <p:spPr>
            <a:xfrm>
              <a:off x="6495134" y="3669151"/>
              <a:ext cx="3018900" cy="2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0</a:t>
              </a:r>
              <a:r>
                <a:rPr b="0" i="0" lang="en-US" sz="1500" u="none" cap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Data Loss (Retried via SQS).</a:t>
              </a:r>
              <a:endParaRPr/>
            </a:p>
          </p:txBody>
        </p:sp>
        <p:sp>
          <p:nvSpPr>
            <p:cNvPr id="278" name="Google Shape;278;p26"/>
            <p:cNvSpPr/>
            <p:nvPr/>
          </p:nvSpPr>
          <p:spPr>
            <a:xfrm>
              <a:off x="6495134" y="4151627"/>
              <a:ext cx="3018900" cy="9600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" name="Google Shape;279;p26"/>
            <p:cNvSpPr txBox="1"/>
            <p:nvPr/>
          </p:nvSpPr>
          <p:spPr>
            <a:xfrm>
              <a:off x="6495134" y="4409282"/>
              <a:ext cx="3018900" cy="2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28575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Self-Healing:</a:t>
              </a:r>
              <a:r>
                <a:rPr b="0" i="0" lang="en-US" sz="1500" u="none" cap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Backlog drained in 28s after recovery.</a:t>
              </a:r>
              <a:endParaRPr/>
            </a:p>
          </p:txBody>
        </p:sp>
      </p:grpSp>
      <p:pic>
        <p:nvPicPr>
          <p:cNvPr descr="image.png" id="280" name="Google Shape;280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04376" y="4159824"/>
            <a:ext cx="270475" cy="41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5" name="Google Shape;28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7"/>
          <p:cNvSpPr txBox="1"/>
          <p:nvPr/>
        </p:nvSpPr>
        <p:spPr>
          <a:xfrm>
            <a:off x="762000" y="571500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Exp 3 Results: </a:t>
            </a:r>
            <a:r>
              <a:rPr lang="en-US" sz="3600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S3 Service Outage</a:t>
            </a:r>
            <a:endParaRPr/>
          </a:p>
        </p:txBody>
      </p:sp>
      <p:sp>
        <p:nvSpPr>
          <p:cNvPr id="287" name="Google Shape;287;p27"/>
          <p:cNvSpPr/>
          <p:nvPr/>
        </p:nvSpPr>
        <p:spPr>
          <a:xfrm>
            <a:off x="571500" y="571500"/>
            <a:ext cx="47625" cy="50289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8" name="Google Shape;288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3500" y="2668900"/>
            <a:ext cx="5348067" cy="2410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65500" y="2668906"/>
            <a:ext cx="5149750" cy="2410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4" name="Google Shape;29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5" name="Google Shape;295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52250" y="2647950"/>
            <a:ext cx="3492549" cy="24459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6" name="Google Shape;296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91449" y="2647950"/>
            <a:ext cx="3492549" cy="24459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7" name="Google Shape;297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07950" y="294322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8"/>
          <p:cNvSpPr txBox="1"/>
          <p:nvPr/>
        </p:nvSpPr>
        <p:spPr>
          <a:xfrm>
            <a:off x="1874975" y="3514725"/>
            <a:ext cx="3047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Circuit-breaker</a:t>
            </a:r>
            <a:endParaRPr/>
          </a:p>
        </p:txBody>
      </p:sp>
      <p:sp>
        <p:nvSpPr>
          <p:cNvPr id="299" name="Google Shape;299;p28"/>
          <p:cNvSpPr txBox="1"/>
          <p:nvPr/>
        </p:nvSpPr>
        <p:spPr>
          <a:xfrm>
            <a:off x="1947525" y="3998565"/>
            <a:ext cx="2901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Avoid wasting cycles </a:t>
            </a:r>
            <a:endParaRPr/>
          </a:p>
        </p:txBody>
      </p:sp>
      <p:pic>
        <p:nvPicPr>
          <p:cNvPr descr="image.png" id="300" name="Google Shape;300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323337" y="2943225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8"/>
          <p:cNvSpPr txBox="1"/>
          <p:nvPr/>
        </p:nvSpPr>
        <p:spPr>
          <a:xfrm>
            <a:off x="7014174" y="3514725"/>
            <a:ext cx="3047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Extend visibility timeout</a:t>
            </a:r>
            <a:endParaRPr/>
          </a:p>
        </p:txBody>
      </p:sp>
      <p:sp>
        <p:nvSpPr>
          <p:cNvPr id="302" name="Google Shape;302;p28"/>
          <p:cNvSpPr txBox="1"/>
          <p:nvPr/>
        </p:nvSpPr>
        <p:spPr>
          <a:xfrm>
            <a:off x="7086724" y="3998565"/>
            <a:ext cx="2901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Tolerate longer disruptions</a:t>
            </a:r>
            <a:endParaRPr/>
          </a:p>
        </p:txBody>
      </p:sp>
      <p:sp>
        <p:nvSpPr>
          <p:cNvPr id="303" name="Google Shape;303;p28"/>
          <p:cNvSpPr txBox="1"/>
          <p:nvPr/>
        </p:nvSpPr>
        <p:spPr>
          <a:xfrm>
            <a:off x="762000" y="571500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3600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Future improvements</a:t>
            </a:r>
            <a:r>
              <a:rPr lang="en-US" sz="3600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: S3 Service Outage</a:t>
            </a:r>
            <a:endParaRPr/>
          </a:p>
        </p:txBody>
      </p:sp>
      <p:sp>
        <p:nvSpPr>
          <p:cNvPr id="304" name="Google Shape;304;p28"/>
          <p:cNvSpPr/>
          <p:nvPr/>
        </p:nvSpPr>
        <p:spPr>
          <a:xfrm>
            <a:off x="571500" y="571500"/>
            <a:ext cx="47700" cy="502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9" name="Google Shape;30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9"/>
          <p:cNvSpPr txBox="1"/>
          <p:nvPr/>
        </p:nvSpPr>
        <p:spPr>
          <a:xfrm>
            <a:off x="762000" y="571500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Exp 3 Results: </a:t>
            </a:r>
            <a:r>
              <a:rPr lang="en-US" sz="3600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EKS Pods Drop</a:t>
            </a:r>
            <a:endParaRPr/>
          </a:p>
        </p:txBody>
      </p:sp>
      <p:sp>
        <p:nvSpPr>
          <p:cNvPr id="311" name="Google Shape;311;p29"/>
          <p:cNvSpPr/>
          <p:nvPr/>
        </p:nvSpPr>
        <p:spPr>
          <a:xfrm>
            <a:off x="571500" y="571500"/>
            <a:ext cx="47700" cy="502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12" name="Google Shape;312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742250"/>
            <a:ext cx="9103311" cy="3560425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9"/>
          <p:cNvSpPr txBox="1"/>
          <p:nvPr/>
        </p:nvSpPr>
        <p:spPr>
          <a:xfrm>
            <a:off x="1312598" y="2069846"/>
            <a:ext cx="12765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D4ED8"/>
                </a:solidFill>
                <a:latin typeface="Urbanist"/>
                <a:ea typeface="Urbanist"/>
                <a:cs typeface="Urbanist"/>
                <a:sym typeface="Urbanist"/>
              </a:rPr>
              <a:t>Scenario 3: 7/8 Pods Dropped</a:t>
            </a:r>
            <a:endParaRPr/>
          </a:p>
        </p:txBody>
      </p:sp>
      <p:sp>
        <p:nvSpPr>
          <p:cNvPr id="314" name="Google Shape;314;p29"/>
          <p:cNvSpPr txBox="1"/>
          <p:nvPr/>
        </p:nvSpPr>
        <p:spPr>
          <a:xfrm>
            <a:off x="1312598" y="4467971"/>
            <a:ext cx="12158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5803D"/>
                </a:solidFill>
                <a:latin typeface="Inter"/>
                <a:ea typeface="Inter"/>
                <a:cs typeface="Inter"/>
                <a:sym typeface="Inter"/>
              </a:rPr>
              <a:t>Verdict: Slow but Data Safe (0 Loss).</a:t>
            </a:r>
            <a:endParaRPr/>
          </a:p>
        </p:txBody>
      </p:sp>
      <p:sp>
        <p:nvSpPr>
          <p:cNvPr id="315" name="Google Shape;315;p29"/>
          <p:cNvSpPr txBox="1"/>
          <p:nvPr/>
        </p:nvSpPr>
        <p:spPr>
          <a:xfrm>
            <a:off x="1340848" y="2561700"/>
            <a:ext cx="8304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Throughput: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Dropped 824 → 103 msg/s.</a:t>
            </a:r>
            <a:endParaRPr/>
          </a:p>
        </p:txBody>
      </p:sp>
      <p:sp>
        <p:nvSpPr>
          <p:cNvPr id="316" name="Google Shape;316;p29"/>
          <p:cNvSpPr txBox="1"/>
          <p:nvPr/>
        </p:nvSpPr>
        <p:spPr>
          <a:xfrm>
            <a:off x="1340848" y="3284480"/>
            <a:ext cx="8304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Queue Spike: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12 → 4,847 messages.</a:t>
            </a:r>
            <a:endParaRPr/>
          </a:p>
        </p:txBody>
      </p:sp>
      <p:sp>
        <p:nvSpPr>
          <p:cNvPr id="317" name="Google Shape;317;p29"/>
          <p:cNvSpPr txBox="1"/>
          <p:nvPr/>
        </p:nvSpPr>
        <p:spPr>
          <a:xfrm>
            <a:off x="1340848" y="3684530"/>
            <a:ext cx="8304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Recovery: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240s to scale back up.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2" name="Google Shape;32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30"/>
          <p:cNvSpPr txBox="1"/>
          <p:nvPr/>
        </p:nvSpPr>
        <p:spPr>
          <a:xfrm>
            <a:off x="762000" y="571500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Exp 3 Results: </a:t>
            </a:r>
            <a:r>
              <a:rPr lang="en-US" sz="3600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EKS Pods Drop</a:t>
            </a:r>
            <a:endParaRPr/>
          </a:p>
        </p:txBody>
      </p:sp>
      <p:sp>
        <p:nvSpPr>
          <p:cNvPr id="324" name="Google Shape;324;p30"/>
          <p:cNvSpPr/>
          <p:nvPr/>
        </p:nvSpPr>
        <p:spPr>
          <a:xfrm>
            <a:off x="571500" y="571500"/>
            <a:ext cx="47700" cy="502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5" name="Google Shape;325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1749475"/>
            <a:ext cx="5086100" cy="312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29400" y="1749475"/>
            <a:ext cx="5153256" cy="312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1" name="Google Shape;33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2" name="Google Shape;332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15200" y="571500"/>
            <a:ext cx="48768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1"/>
          <p:cNvSpPr txBox="1"/>
          <p:nvPr/>
        </p:nvSpPr>
        <p:spPr>
          <a:xfrm>
            <a:off x="571500" y="1575643"/>
            <a:ext cx="6480810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Resilience Analysis</a:t>
            </a:r>
            <a:endParaRPr/>
          </a:p>
        </p:txBody>
      </p:sp>
      <p:sp>
        <p:nvSpPr>
          <p:cNvPr id="334" name="Google Shape;334;p31"/>
          <p:cNvSpPr txBox="1"/>
          <p:nvPr/>
        </p:nvSpPr>
        <p:spPr>
          <a:xfrm>
            <a:off x="952500" y="2516683"/>
            <a:ext cx="57912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SQS as Buffer:</a:t>
            </a:r>
            <a:r>
              <a:rPr b="0" i="0" lang="en-US" sz="18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5-minute visibility timeout saved messages.</a:t>
            </a:r>
            <a:endParaRPr/>
          </a:p>
        </p:txBody>
      </p:sp>
      <p:sp>
        <p:nvSpPr>
          <p:cNvPr id="335" name="Google Shape;335;p31"/>
          <p:cNvSpPr txBox="1"/>
          <p:nvPr/>
        </p:nvSpPr>
        <p:spPr>
          <a:xfrm>
            <a:off x="952500" y="3438525"/>
            <a:ext cx="57912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Zero Data Loss:</a:t>
            </a:r>
            <a:r>
              <a:rPr b="0" i="0" lang="en-US" sz="18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Messages were retried, not dropped.</a:t>
            </a:r>
            <a:endParaRPr/>
          </a:p>
        </p:txBody>
      </p:sp>
      <p:sp>
        <p:nvSpPr>
          <p:cNvPr id="336" name="Google Shape;336;p31"/>
          <p:cNvSpPr txBox="1"/>
          <p:nvPr/>
        </p:nvSpPr>
        <p:spPr>
          <a:xfrm>
            <a:off x="952500" y="4360366"/>
            <a:ext cx="57912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Rapid Recovery:</a:t>
            </a:r>
            <a:r>
              <a:rPr b="0" i="0" lang="en-US" sz="18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Backlog drained immediately upon S3 restoration.</a:t>
            </a:r>
            <a:endParaRPr/>
          </a:p>
        </p:txBody>
      </p:sp>
      <p:pic>
        <p:nvPicPr>
          <p:cNvPr descr="image.png" id="337" name="Google Shape;337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51668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8" name="Google Shape;338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4385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9" name="Google Shape;339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360366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4" name="Google Shape;34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5" name="Google Shape;345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12640"/>
            <a:ext cx="3492549" cy="21411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6" name="Google Shape;346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312640"/>
            <a:ext cx="3492549" cy="21411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7" name="Google Shape;347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312640"/>
            <a:ext cx="3492549" cy="21411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8" name="Google Shape;348;p3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27200" y="260791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32"/>
          <p:cNvSpPr txBox="1"/>
          <p:nvPr/>
        </p:nvSpPr>
        <p:spPr>
          <a:xfrm>
            <a:off x="794225" y="3179415"/>
            <a:ext cx="3047099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Scalable</a:t>
            </a:r>
            <a:endParaRPr/>
          </a:p>
        </p:txBody>
      </p:sp>
      <p:sp>
        <p:nvSpPr>
          <p:cNvPr id="350" name="Google Shape;350;p32"/>
          <p:cNvSpPr txBox="1"/>
          <p:nvPr/>
        </p:nvSpPr>
        <p:spPr>
          <a:xfrm>
            <a:off x="866775" y="3663255"/>
            <a:ext cx="290199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Validated up to ~830 RPS.</a:t>
            </a:r>
            <a:endParaRPr/>
          </a:p>
        </p:txBody>
      </p:sp>
      <p:pic>
        <p:nvPicPr>
          <p:cNvPr descr="image.png" id="351" name="Google Shape;351;p3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29312" y="2607915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2"/>
          <p:cNvSpPr txBox="1"/>
          <p:nvPr/>
        </p:nvSpPr>
        <p:spPr>
          <a:xfrm>
            <a:off x="4572524" y="3179415"/>
            <a:ext cx="3047099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Elastic</a:t>
            </a:r>
            <a:endParaRPr/>
          </a:p>
        </p:txBody>
      </p:sp>
      <p:sp>
        <p:nvSpPr>
          <p:cNvPr id="353" name="Google Shape;353;p32"/>
          <p:cNvSpPr txBox="1"/>
          <p:nvPr/>
        </p:nvSpPr>
        <p:spPr>
          <a:xfrm>
            <a:off x="4645074" y="3663255"/>
            <a:ext cx="290199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Handles 100x burst loads.</a:t>
            </a:r>
            <a:endParaRPr/>
          </a:p>
        </p:txBody>
      </p:sp>
      <p:pic>
        <p:nvPicPr>
          <p:cNvPr descr="image.png" id="354" name="Google Shape;354;p3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83799" y="260791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8350824" y="3179415"/>
            <a:ext cx="3047099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Resilient</a:t>
            </a:r>
            <a:endParaRPr/>
          </a:p>
        </p:txBody>
      </p:sp>
      <p:sp>
        <p:nvSpPr>
          <p:cNvPr id="356" name="Google Shape;356;p32"/>
          <p:cNvSpPr txBox="1"/>
          <p:nvPr/>
        </p:nvSpPr>
        <p:spPr>
          <a:xfrm>
            <a:off x="8423374" y="3663255"/>
            <a:ext cx="290199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Tolerates downstream failure.</a:t>
            </a:r>
            <a:endParaRPr/>
          </a:p>
        </p:txBody>
      </p:sp>
      <p:sp>
        <p:nvSpPr>
          <p:cNvPr id="357" name="Google Shape;357;p32"/>
          <p:cNvSpPr txBox="1"/>
          <p:nvPr/>
        </p:nvSpPr>
        <p:spPr>
          <a:xfrm>
            <a:off x="762000" y="571500"/>
            <a:ext cx="11401425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Conclusion</a:t>
            </a:r>
            <a:endParaRPr/>
          </a:p>
        </p:txBody>
      </p:sp>
      <p:sp>
        <p:nvSpPr>
          <p:cNvPr id="358" name="Google Shape;358;p32"/>
          <p:cNvSpPr/>
          <p:nvPr/>
        </p:nvSpPr>
        <p:spPr>
          <a:xfrm>
            <a:off x="571500" y="571500"/>
            <a:ext cx="47625" cy="50289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3"/>
          <p:cNvSpPr txBox="1"/>
          <p:nvPr/>
        </p:nvSpPr>
        <p:spPr>
          <a:xfrm>
            <a:off x="762000" y="571500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Q &amp; A</a:t>
            </a:r>
            <a:endParaRPr/>
          </a:p>
        </p:txBody>
      </p:sp>
      <p:sp>
        <p:nvSpPr>
          <p:cNvPr id="364" name="Google Shape;364;p33"/>
          <p:cNvSpPr/>
          <p:nvPr/>
        </p:nvSpPr>
        <p:spPr>
          <a:xfrm>
            <a:off x="571500" y="571500"/>
            <a:ext cx="47700" cy="502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33"/>
          <p:cNvSpPr txBox="1"/>
          <p:nvPr/>
        </p:nvSpPr>
        <p:spPr>
          <a:xfrm>
            <a:off x="4334525" y="3226500"/>
            <a:ext cx="2575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Questions？</a:t>
            </a:r>
            <a:endParaRPr sz="2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