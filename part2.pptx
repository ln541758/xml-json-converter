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62" r:id="rId2"/>
    <p:sldId id="269" r:id="rId3"/>
    <p:sldId id="264" r:id="rId4"/>
    <p:sldId id="265" r:id="rId5"/>
    <p:sldId id="266" r:id="rId6"/>
    <p:sldId id="267" r:id="rId7"/>
    <p:sldId id="268" r:id="rId8"/>
  </p:sldIdLst>
  <p:sldSz cx="12192000" cy="6858000"/>
  <p:notesSz cx="6858000" cy="9144000"/>
  <p:embeddedFontLst>
    <p:embeddedFont>
      <p:font typeface="Inter" panose="02000503000000020004" pitchFamily="2" charset="0"/>
      <p:regular r:id="rId10"/>
      <p:bold r:id="rId11"/>
      <p:italic r:id="rId12"/>
      <p:boldItalic r:id="rId13"/>
    </p:embeddedFont>
    <p:embeddedFont>
      <p:font typeface="Roboto Mono" pitchFamily="49" charset="0"/>
      <p:regular r:id="rId14"/>
      <p:bold r:id="rId15"/>
      <p:italic r:id="rId16"/>
      <p:boldItalic r:id="rId17"/>
    </p:embeddedFont>
    <p:embeddedFont>
      <p:font typeface="Urbanist" panose="020B0A04040200000203" pitchFamily="34" charset="77"/>
      <p:regular r:id="rId18"/>
      <p:bold r:id="rId19"/>
      <p:italic r:id="rId20"/>
      <p:boldItalic r:id="rId21"/>
    </p:embeddedFont>
    <p:embeddedFont>
      <p:font typeface="Urbanist SemiBold" panose="020B0A04040200000203" pitchFamily="34" charset="77"/>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72517"/>
  </p:normalViewPr>
  <p:slideViewPr>
    <p:cSldViewPr snapToGrid="0">
      <p:cViewPr varScale="1">
        <p:scale>
          <a:sx n="86" d="100"/>
          <a:sy n="86" d="100"/>
        </p:scale>
        <p:origin x="1424"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200"/>
              </a:spcBef>
              <a:spcAft>
                <a:spcPts val="0"/>
              </a:spcAft>
              <a:buClr>
                <a:schemeClr val="dk1"/>
              </a:buClr>
              <a:buSzPts val="1100"/>
              <a:buFont typeface="Arial"/>
              <a:buNone/>
            </a:pPr>
            <a:endParaRPr dirty="0">
              <a:solidFill>
                <a:schemeClr val="dk1"/>
              </a:solidFill>
            </a:endParaRPr>
          </a:p>
        </p:txBody>
      </p:sp>
      <p:sp>
        <p:nvSpPr>
          <p:cNvPr id="162" name="Google Shape;16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5585F0D6-8464-0CF1-FC9D-ACF3F6DA9936}"/>
            </a:ext>
          </a:extLst>
        </p:cNvPr>
        <p:cNvGrpSpPr/>
        <p:nvPr/>
      </p:nvGrpSpPr>
      <p:grpSpPr>
        <a:xfrm>
          <a:off x="0" y="0"/>
          <a:ext cx="0" cy="0"/>
          <a:chOff x="0" y="0"/>
          <a:chExt cx="0" cy="0"/>
        </a:xfrm>
      </p:grpSpPr>
      <p:sp>
        <p:nvSpPr>
          <p:cNvPr id="176" name="Google Shape;176;p7:notes">
            <a:extLst>
              <a:ext uri="{FF2B5EF4-FFF2-40B4-BE49-F238E27FC236}">
                <a16:creationId xmlns:a16="http://schemas.microsoft.com/office/drawing/2014/main" id="{617D1814-0A4D-29A5-0E9E-FB7598E67E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dirty="0">
                <a:solidFill>
                  <a:schemeClr val="dk1"/>
                </a:solidFill>
              </a:rPr>
              <a:t>In this experiment, we wanted to see how quickly our system can react when traffic suddenly increases.</a:t>
            </a:r>
            <a:br>
              <a:rPr lang="en-US" dirty="0">
                <a:solidFill>
                  <a:schemeClr val="dk1"/>
                </a:solidFill>
              </a:rPr>
            </a:br>
            <a:r>
              <a:rPr lang="en-US" dirty="0">
                <a:solidFill>
                  <a:schemeClr val="dk1"/>
                </a:solidFill>
              </a:rPr>
              <a:t> We tested four phases: a baseline at 10 messages per second, a medium load at 100, a burst of 1000 messages per second, and finally the recovery period where traffic drops again.</a:t>
            </a:r>
            <a:endParaRPr dirty="0">
              <a:solidFill>
                <a:schemeClr val="dk1"/>
              </a:solidFill>
            </a:endParaRPr>
          </a:p>
          <a:p>
            <a:pPr marL="0" lvl="0" indent="0" algn="l" rtl="0">
              <a:spcBef>
                <a:spcPts val="1200"/>
              </a:spcBef>
              <a:spcAft>
                <a:spcPts val="0"/>
              </a:spcAft>
              <a:buNone/>
            </a:pPr>
            <a:endParaRPr dirty="0">
              <a:solidFill>
                <a:schemeClr val="dk1"/>
              </a:solidFill>
            </a:endParaRPr>
          </a:p>
        </p:txBody>
      </p:sp>
      <p:sp>
        <p:nvSpPr>
          <p:cNvPr id="177" name="Google Shape;177;p7:notes">
            <a:extLst>
              <a:ext uri="{FF2B5EF4-FFF2-40B4-BE49-F238E27FC236}">
                <a16:creationId xmlns:a16="http://schemas.microsoft.com/office/drawing/2014/main" id="{200B0C03-567A-1BEE-4F57-FD631F6367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785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From the first chart, we see that When the burst starts, CPU goes above the target and the system scales from 2 to 8 pods. The queue briefly grows to around 45 messages but is cleared quickly, and p95 latency returns to normal.</a:t>
            </a:r>
          </a:p>
          <a:p>
            <a:r>
              <a:rPr lang="en-CA" dirty="0"/>
              <a:t>The second chart shows that both queue depth and processing time increase at the start of the burst but return to normal as new pods come online, confirming that HPA handles the burst well.</a:t>
            </a:r>
          </a:p>
          <a:p>
            <a:r>
              <a:rPr lang="en-CA" dirty="0"/>
              <a:t>Across all phases, pods scale from 2→5 under medium load and 2→8 during the burst, then smoothly scale down with no oscillation.</a:t>
            </a:r>
          </a:p>
          <a:p>
            <a:pPr marL="0" lvl="0" indent="0" algn="l" rtl="0">
              <a:spcBef>
                <a:spcPts val="0"/>
              </a:spcBef>
              <a:spcAft>
                <a:spcPts val="0"/>
              </a:spcAft>
              <a:buNone/>
            </a:pPr>
            <a:br>
              <a:rPr lang="en-US" dirty="0">
                <a:solidFill>
                  <a:schemeClr val="dk1"/>
                </a:solidFill>
              </a:rPr>
            </a:br>
            <a:br>
              <a:rPr lang="en-US" dirty="0">
                <a:solidFill>
                  <a:schemeClr val="dk1"/>
                </a:solidFill>
              </a:rPr>
            </a:br>
            <a:r>
              <a:rPr lang="en-US" dirty="0">
                <a:solidFill>
                  <a:schemeClr val="dk1"/>
                </a:solidFill>
              </a:rPr>
              <a:t>From the first chart we can see how the system reacts during the burst.</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At the start, only two pods are running. When the load increases, CPU rises above the HPA target, and the system scales up to eight pods.</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The queue briefly spikes to around 45 messages, but the workers clear it by about 135 seconds.</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We also see that p95 processing time spikes once during the burst, and then stabilizes around 85 milliseconds.</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From the second chart we see the relationship between processing time and queue depth.</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When the burst begins, both curves rise quickly, which is expected.</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But as new pods come online, queue depth drops and processing time returns to normal.</a:t>
            </a:r>
            <a:endParaRPr dirty="0">
              <a:solidFill>
                <a:schemeClr val="dk1"/>
              </a:solidFill>
            </a:endParaRPr>
          </a:p>
          <a:p>
            <a:pPr marL="0" lvl="0" indent="0" algn="l" rtl="0">
              <a:spcBef>
                <a:spcPts val="0"/>
              </a:spcBef>
              <a:spcAft>
                <a:spcPts val="0"/>
              </a:spcAft>
              <a:buNone/>
            </a:pPr>
            <a:r>
              <a:rPr lang="en-US" dirty="0">
                <a:solidFill>
                  <a:schemeClr val="dk1"/>
                </a:solidFill>
              </a:rPr>
              <a:t>This confirms that HPA prevents long-term congestion in the system.</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This table summarizes all phases.</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In medium load, pods grow from 2 to 5, and during the burst, they reach 8.</a:t>
            </a:r>
            <a:endParaRPr dirty="0">
              <a:solidFill>
                <a:schemeClr val="dk1"/>
              </a:solidFill>
            </a:endParaRPr>
          </a:p>
          <a:p>
            <a:pPr marL="0" lvl="0" indent="0" algn="l" rtl="0">
              <a:spcBef>
                <a:spcPts val="0"/>
              </a:spcBef>
              <a:spcAft>
                <a:spcPts val="0"/>
              </a:spcAft>
              <a:buNone/>
            </a:pPr>
            <a:r>
              <a:rPr lang="en-US" dirty="0">
                <a:solidFill>
                  <a:schemeClr val="dk1"/>
                </a:solidFill>
              </a:rPr>
              <a:t>After the burst ends, the system scales down smoothly with no oscillation.</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dk1"/>
              </a:solidFill>
            </a:endParaRPr>
          </a:p>
          <a:p>
            <a:pPr marL="0" lvl="0" indent="0" algn="l" rtl="0">
              <a:spcBef>
                <a:spcPts val="1200"/>
              </a:spcBef>
              <a:spcAft>
                <a:spcPts val="0"/>
              </a:spcAft>
              <a:buNone/>
            </a:pPr>
            <a:endParaRPr dirty="0">
              <a:solidFill>
                <a:schemeClr val="dk1"/>
              </a:solidFill>
            </a:endParaRPr>
          </a:p>
        </p:txBody>
      </p:sp>
      <p:sp>
        <p:nvSpPr>
          <p:cNvPr id="198" name="Google Shape;19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HPA successfully prevented backlog buildup and kept latency stable, and scale-down was smooth. However, relying on CPU as a signal is slower than using queue depth, so a queue-based </a:t>
            </a:r>
            <a:r>
              <a:rPr lang="en-CA" dirty="0" err="1"/>
              <a:t>autoscaler</a:t>
            </a:r>
            <a:r>
              <a:rPr lang="en-CA" dirty="0"/>
              <a:t> like KEDA would respond more quickly to bursts.</a:t>
            </a:r>
            <a:br>
              <a:rPr lang="en-CA" dirty="0"/>
            </a:br>
            <a:br>
              <a:rPr lang="en-CA" dirty="0"/>
            </a:br>
            <a:r>
              <a:rPr lang="en-US" dirty="0">
                <a:solidFill>
                  <a:schemeClr val="dk1"/>
                </a:solidFill>
              </a:rPr>
              <a:t>In terms of successes, HPA prevented a long backlog and kept latency under control.</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Scale-down was smooth, and the system stayed stable throughout the test.</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However, CPU is an indirect signal — it reacts slower than queue depth.</a:t>
            </a:r>
            <a:endParaRPr dirty="0">
              <a:solidFill>
                <a:schemeClr val="dk1"/>
              </a:solidFill>
            </a:endParaRPr>
          </a:p>
          <a:p>
            <a:pPr marL="0" lvl="0" indent="0" algn="l" rtl="0">
              <a:spcBef>
                <a:spcPts val="0"/>
              </a:spcBef>
              <a:spcAft>
                <a:spcPts val="0"/>
              </a:spcAft>
              <a:buNone/>
            </a:pPr>
            <a:r>
              <a:rPr lang="en-US" dirty="0">
                <a:solidFill>
                  <a:schemeClr val="dk1"/>
                </a:solidFill>
              </a:rPr>
              <a:t>A better approach would be queue-based autoscaling, for example using KEDA, which could react even faster to sudden </a:t>
            </a:r>
            <a:r>
              <a:rPr lang="en-US" dirty="0" err="1">
                <a:solidFill>
                  <a:schemeClr val="dk1"/>
                </a:solidFill>
              </a:rPr>
              <a:t>bursts.In</a:t>
            </a:r>
            <a:r>
              <a:rPr lang="en-US" dirty="0">
                <a:solidFill>
                  <a:schemeClr val="dk1"/>
                </a:solidFill>
              </a:rPr>
              <a:t> terms of successes, HPA prevented a long backlog and kept latency under control.</a:t>
            </a:r>
            <a:endParaRPr dirty="0">
              <a:solidFill>
                <a:schemeClr val="dk1"/>
              </a:solidFill>
            </a:endParaRPr>
          </a:p>
          <a:p>
            <a:pPr marL="0" lvl="0" indent="0" algn="l" rtl="0">
              <a:spcBef>
                <a:spcPts val="0"/>
              </a:spcBef>
              <a:spcAft>
                <a:spcPts val="0"/>
              </a:spcAft>
              <a:buNone/>
            </a:pPr>
            <a:endParaRPr dirty="0">
              <a:solidFill>
                <a:schemeClr val="dk1"/>
              </a:solidFill>
            </a:endParaRPr>
          </a:p>
        </p:txBody>
      </p:sp>
      <p:sp>
        <p:nvSpPr>
          <p:cNvPr id="211" name="Google Shape;21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a61ec7e346_13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rPr>
              <a:t>The goal of Experiment 3 is to understand how the system behaves when failures happen.</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We test three scenarios: malformed XML input, an S3 outage, and losing most of our worker pods.</a:t>
            </a:r>
            <a:endParaRPr dirty="0">
              <a:solidFill>
                <a:schemeClr val="dk1"/>
              </a:solidFill>
            </a:endParaRPr>
          </a:p>
          <a:p>
            <a:pPr marL="0" lvl="0" indent="0" algn="l" rtl="0">
              <a:spcBef>
                <a:spcPts val="0"/>
              </a:spcBef>
              <a:spcAft>
                <a:spcPts val="0"/>
              </a:spcAft>
              <a:buNone/>
            </a:pPr>
            <a:r>
              <a:rPr lang="en-US" dirty="0">
                <a:solidFill>
                  <a:schemeClr val="dk1"/>
                </a:solidFill>
              </a:rPr>
              <a:t>For each scenario, we want to see whether the system isolates the error, continues running, and recovers properly.</a:t>
            </a:r>
            <a:endParaRPr dirty="0">
              <a:solidFill>
                <a:schemeClr val="dk1"/>
              </a:solidFill>
            </a:endParaRPr>
          </a:p>
        </p:txBody>
      </p:sp>
      <p:sp>
        <p:nvSpPr>
          <p:cNvPr id="229" name="Google Shape;229;g3a61ec7e346_13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a61ec7e346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This </a:t>
            </a:r>
            <a:r>
              <a:rPr lang="en-US" dirty="0"/>
              <a:t>scenario</a:t>
            </a:r>
            <a:r>
              <a:rPr lang="en-CA" dirty="0"/>
              <a:t> shows how the system handles invalid XML. When a malformed file is encountered, the worker fails fast without crashing or retrying indefinitely. After reaching the configured </a:t>
            </a:r>
            <a:r>
              <a:rPr lang="en-CA" dirty="0" err="1"/>
              <a:t>maxReceiveCount</a:t>
            </a:r>
            <a:r>
              <a:rPr lang="en-CA" dirty="0"/>
              <a:t>, SQS automatically sends the message to the DLQ.</a:t>
            </a:r>
            <a:br>
              <a:rPr lang="en-CA" dirty="0"/>
            </a:br>
            <a:br>
              <a:rPr lang="en-CA" dirty="0"/>
            </a:br>
            <a:r>
              <a:rPr lang="en-US" dirty="0"/>
              <a:t>This scenario tests what happens when workers receive invalid XML.</a:t>
            </a:r>
            <a:endParaRPr dirty="0"/>
          </a:p>
          <a:p>
            <a:pPr marL="0" lvl="0" indent="0" algn="l" rtl="0">
              <a:spcBef>
                <a:spcPts val="0"/>
              </a:spcBef>
              <a:spcAft>
                <a:spcPts val="0"/>
              </a:spcAft>
              <a:buNone/>
            </a:pPr>
            <a:r>
              <a:rPr lang="en-US" dirty="0"/>
              <a:t>The risk here is that one bad message might crash the worker or block other jobs.</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US" dirty="0"/>
              <a:t>The diagram on the right shows the full flow.</a:t>
            </a:r>
            <a:endParaRPr dirty="0"/>
          </a:p>
          <a:p>
            <a:pPr marL="0" lvl="0" indent="0" algn="l" rtl="0">
              <a:spcBef>
                <a:spcPts val="0"/>
              </a:spcBef>
              <a:spcAft>
                <a:spcPts val="0"/>
              </a:spcAft>
              <a:buClr>
                <a:schemeClr val="dk1"/>
              </a:buClr>
              <a:buSzPts val="1100"/>
              <a:buFont typeface="Arial"/>
              <a:buNone/>
            </a:pPr>
            <a:r>
              <a:rPr lang="en-US" dirty="0"/>
              <a:t>Workers pull a message from SQS, fetch the XML from S3, and try to parse it.</a:t>
            </a:r>
            <a:endParaRPr dirty="0"/>
          </a:p>
          <a:p>
            <a:pPr marL="0" lvl="0" indent="0" algn="l" rtl="0">
              <a:spcBef>
                <a:spcPts val="0"/>
              </a:spcBef>
              <a:spcAft>
                <a:spcPts val="0"/>
              </a:spcAft>
              <a:buClr>
                <a:schemeClr val="dk1"/>
              </a:buClr>
              <a:buSzPts val="1100"/>
              <a:buFont typeface="Arial"/>
              <a:buNone/>
            </a:pPr>
            <a:r>
              <a:rPr lang="en-US" dirty="0"/>
              <a:t>When the XML is malformed, the worker immediately returns an error.</a:t>
            </a:r>
            <a:endParaRPr dirty="0"/>
          </a:p>
          <a:p>
            <a:pPr marL="0" lvl="0" indent="0" algn="l" rtl="0">
              <a:spcBef>
                <a:spcPts val="0"/>
              </a:spcBef>
              <a:spcAft>
                <a:spcPts val="0"/>
              </a:spcAft>
              <a:buNone/>
            </a:pPr>
            <a:r>
              <a:rPr lang="en-US" dirty="0"/>
              <a:t>It does not retry endlessly or crash.</a:t>
            </a:r>
            <a:endParaRPr dirty="0"/>
          </a:p>
          <a:p>
            <a:pPr marL="0" lvl="0" indent="0" algn="l" rtl="0">
              <a:spcBef>
                <a:spcPts val="0"/>
              </a:spcBef>
              <a:spcAft>
                <a:spcPts val="0"/>
              </a:spcAft>
              <a:buNone/>
            </a:pPr>
            <a:r>
              <a:rPr lang="en-US" dirty="0">
                <a:solidFill>
                  <a:schemeClr val="dk1"/>
                </a:solidFill>
              </a:rPr>
              <a:t>After the message hits the </a:t>
            </a:r>
            <a:r>
              <a:rPr lang="en-US" dirty="0" err="1">
                <a:solidFill>
                  <a:srgbClr val="188038"/>
                </a:solidFill>
                <a:latin typeface="Roboto Mono"/>
                <a:ea typeface="Roboto Mono"/>
                <a:cs typeface="Roboto Mono"/>
                <a:sym typeface="Roboto Mono"/>
              </a:rPr>
              <a:t>maxReceiveCount</a:t>
            </a:r>
            <a:r>
              <a:rPr lang="en-US" dirty="0">
                <a:solidFill>
                  <a:schemeClr val="dk1"/>
                </a:solidFill>
              </a:rPr>
              <a:t> configured in SQS, the queue automatically moves it to the DLQ.</a:t>
            </a:r>
            <a:endParaRPr dirty="0"/>
          </a:p>
        </p:txBody>
      </p:sp>
      <p:sp>
        <p:nvSpPr>
          <p:cNvPr id="244" name="Google Shape;244;g3a61ec7e346_2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61ec7e346_13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Workers immediately detected the malformed XML and failed fast without crashing. SQS moved 987 invalid messages to the DLQ after retries were exhausted, while valid messages continued processing normally, showing that parsing errors were fully isolated. A possible improvement is adding richer DLQ metadata to surface specific parsing errors.</a:t>
            </a:r>
            <a:br>
              <a:rPr lang="en-CA" dirty="0"/>
            </a:br>
            <a:br>
              <a:rPr lang="en-CA" dirty="0"/>
            </a:br>
            <a:br>
              <a:rPr lang="en-CA" dirty="0"/>
            </a:br>
            <a:r>
              <a:rPr lang="en-US" dirty="0">
                <a:solidFill>
                  <a:schemeClr val="dk1"/>
                </a:solidFill>
              </a:rPr>
              <a:t>During this test, workers pulled messages from SQS as usual, attempted to parse them, and immediately detected that the XML structure was invalid.</a:t>
            </a:r>
            <a:endParaRPr dirty="0">
              <a:solidFill>
                <a:schemeClr val="dk1"/>
              </a:solidFill>
            </a:endParaRPr>
          </a:p>
          <a:p>
            <a:pPr marL="0" lvl="0" indent="0" algn="l" rtl="0">
              <a:spcBef>
                <a:spcPts val="0"/>
              </a:spcBef>
              <a:spcAft>
                <a:spcPts val="0"/>
              </a:spcAft>
              <a:buNone/>
            </a:pPr>
            <a:r>
              <a:rPr lang="en-US" dirty="0">
                <a:solidFill>
                  <a:schemeClr val="dk1"/>
                </a:solidFill>
              </a:rPr>
              <a:t>Instead of retrying endlessly or crashing, each worker returned an error once, and SQS automatically moved the message to the DLQ after exceeding the retry limit.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In total, 987 malformed messages were routed to the DLQ, and </a:t>
            </a:r>
            <a:r>
              <a:rPr lang="en-US" b="1" dirty="0">
                <a:solidFill>
                  <a:schemeClr val="dk1"/>
                </a:solidFill>
              </a:rPr>
              <a:t>no pods crashed or restarted</a:t>
            </a:r>
            <a:r>
              <a:rPr lang="en-US" dirty="0">
                <a:solidFill>
                  <a:schemeClr val="dk1"/>
                </a:solidFill>
              </a:rPr>
              <a:t>.</a:t>
            </a:r>
            <a:endParaRPr dirty="0">
              <a:solidFill>
                <a:schemeClr val="dk1"/>
              </a:solidFill>
            </a:endParaRPr>
          </a:p>
          <a:p>
            <a:pPr marL="0" lvl="0" indent="0" algn="l" rtl="0">
              <a:spcBef>
                <a:spcPts val="0"/>
              </a:spcBef>
              <a:spcAft>
                <a:spcPts val="0"/>
              </a:spcAft>
              <a:buNone/>
            </a:pPr>
            <a:r>
              <a:rPr lang="en-US" dirty="0">
                <a:solidFill>
                  <a:schemeClr val="dk1"/>
                </a:solidFill>
              </a:rPr>
              <a:t>Valid messages continued to be processed normally, confirming that parsing failures are fully isolated.</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US" dirty="0">
                <a:solidFill>
                  <a:schemeClr val="dk1"/>
                </a:solidFill>
              </a:rPr>
              <a:t>One improvement we could add is richer DLQ metadata — for example, tagging each failed message with the exact parsing error — so operators can quickly identify bad input sources.</a:t>
            </a:r>
            <a:endParaRPr dirty="0">
              <a:solidFill>
                <a:schemeClr val="dk1"/>
              </a:solidFill>
            </a:endParaRPr>
          </a:p>
        </p:txBody>
      </p:sp>
      <p:sp>
        <p:nvSpPr>
          <p:cNvPr id="259" name="Google Shape;259;g3a61ec7e346_13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1.xml"/><Relationship Id="rId7" Type="http://schemas.openxmlformats.org/officeDocument/2006/relationships/image" Target="../media/image7.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notesSlide" Target="../notesSlides/notesSlide3.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9.png"/><Relationship Id="rId5" Type="http://schemas.openxmlformats.org/officeDocument/2006/relationships/image" Target="../media/image1.png"/><Relationship Id="rId10" Type="http://schemas.openxmlformats.org/officeDocument/2006/relationships/image" Target="../media/image5.png"/><Relationship Id="rId4" Type="http://schemas.openxmlformats.org/officeDocument/2006/relationships/notesSlide" Target="../notesSlides/notesSlide4.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14.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15.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4.pn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17.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098C65F2-9CF0-F76C-633A-26796CF04ED1}"/>
            </a:ext>
          </a:extLst>
        </p:cNvPr>
        <p:cNvGrpSpPr/>
        <p:nvPr/>
      </p:nvGrpSpPr>
      <p:grpSpPr>
        <a:xfrm>
          <a:off x="0" y="0"/>
          <a:ext cx="0" cy="0"/>
          <a:chOff x="0" y="0"/>
          <a:chExt cx="0" cy="0"/>
        </a:xfrm>
      </p:grpSpPr>
      <p:pic>
        <p:nvPicPr>
          <p:cNvPr id="179" name="Google Shape;179;p20" descr="image.png">
            <a:extLst>
              <a:ext uri="{FF2B5EF4-FFF2-40B4-BE49-F238E27FC236}">
                <a16:creationId xmlns:a16="http://schemas.microsoft.com/office/drawing/2014/main" id="{B45FFE0A-B278-0E9C-37D2-67593320C76E}"/>
              </a:ext>
            </a:extLst>
          </p:cNvPr>
          <p:cNvPicPr preferRelativeResize="0"/>
          <p:nvPr/>
        </p:nvPicPr>
        <p:blipFill rotWithShape="1">
          <a:blip r:embed="rId5">
            <a:alphaModFix/>
          </a:blip>
          <a:srcRect/>
          <a:stretch/>
        </p:blipFill>
        <p:spPr>
          <a:xfrm>
            <a:off x="0" y="0"/>
            <a:ext cx="12192000" cy="6858000"/>
          </a:xfrm>
          <a:prstGeom prst="rect">
            <a:avLst/>
          </a:prstGeom>
          <a:noFill/>
          <a:ln>
            <a:noFill/>
          </a:ln>
        </p:spPr>
      </p:pic>
      <p:pic>
        <p:nvPicPr>
          <p:cNvPr id="180" name="Google Shape;180;p20" descr="image.png">
            <a:extLst>
              <a:ext uri="{FF2B5EF4-FFF2-40B4-BE49-F238E27FC236}">
                <a16:creationId xmlns:a16="http://schemas.microsoft.com/office/drawing/2014/main" id="{9729D17E-51C3-9540-D537-13D75AFFF301}"/>
              </a:ext>
            </a:extLst>
          </p:cNvPr>
          <p:cNvPicPr preferRelativeResize="0"/>
          <p:nvPr/>
        </p:nvPicPr>
        <p:blipFill rotWithShape="1">
          <a:blip r:embed="rId6">
            <a:alphaModFix/>
          </a:blip>
          <a:srcRect/>
          <a:stretch/>
        </p:blipFill>
        <p:spPr>
          <a:xfrm>
            <a:off x="571500" y="4427190"/>
            <a:ext cx="228600" cy="228600"/>
          </a:xfrm>
          <a:prstGeom prst="rect">
            <a:avLst/>
          </a:prstGeom>
          <a:noFill/>
          <a:ln>
            <a:noFill/>
          </a:ln>
        </p:spPr>
      </p:pic>
      <p:pic>
        <p:nvPicPr>
          <p:cNvPr id="181" name="Google Shape;181;p20" descr="image.png">
            <a:extLst>
              <a:ext uri="{FF2B5EF4-FFF2-40B4-BE49-F238E27FC236}">
                <a16:creationId xmlns:a16="http://schemas.microsoft.com/office/drawing/2014/main" id="{0127C70B-14DA-9B11-C7AA-7EC4A4EAFF8F}"/>
              </a:ext>
            </a:extLst>
          </p:cNvPr>
          <p:cNvPicPr preferRelativeResize="0"/>
          <p:nvPr/>
        </p:nvPicPr>
        <p:blipFill rotWithShape="1">
          <a:blip r:embed="rId7">
            <a:alphaModFix/>
          </a:blip>
          <a:srcRect/>
          <a:stretch/>
        </p:blipFill>
        <p:spPr>
          <a:xfrm>
            <a:off x="4178200" y="4427190"/>
            <a:ext cx="228600" cy="228600"/>
          </a:xfrm>
          <a:prstGeom prst="rect">
            <a:avLst/>
          </a:prstGeom>
          <a:noFill/>
          <a:ln>
            <a:noFill/>
          </a:ln>
        </p:spPr>
      </p:pic>
      <p:pic>
        <p:nvPicPr>
          <p:cNvPr id="182" name="Google Shape;182;p20" descr="image.png">
            <a:extLst>
              <a:ext uri="{FF2B5EF4-FFF2-40B4-BE49-F238E27FC236}">
                <a16:creationId xmlns:a16="http://schemas.microsoft.com/office/drawing/2014/main" id="{9B55E6A4-5692-39E7-99F3-217E1EB95CBB}"/>
              </a:ext>
            </a:extLst>
          </p:cNvPr>
          <p:cNvPicPr preferRelativeResize="0"/>
          <p:nvPr/>
        </p:nvPicPr>
        <p:blipFill rotWithShape="1">
          <a:blip r:embed="rId8">
            <a:alphaModFix/>
          </a:blip>
          <a:srcRect/>
          <a:stretch/>
        </p:blipFill>
        <p:spPr>
          <a:xfrm>
            <a:off x="7784901" y="4427190"/>
            <a:ext cx="228600" cy="228600"/>
          </a:xfrm>
          <a:prstGeom prst="rect">
            <a:avLst/>
          </a:prstGeom>
          <a:noFill/>
          <a:ln>
            <a:noFill/>
          </a:ln>
        </p:spPr>
      </p:pic>
      <p:pic>
        <p:nvPicPr>
          <p:cNvPr id="183" name="Google Shape;183;p20" descr="image.png">
            <a:extLst>
              <a:ext uri="{FF2B5EF4-FFF2-40B4-BE49-F238E27FC236}">
                <a16:creationId xmlns:a16="http://schemas.microsoft.com/office/drawing/2014/main" id="{1C8F8311-E55B-E649-DB18-BB5BDD7C8F02}"/>
              </a:ext>
            </a:extLst>
          </p:cNvPr>
          <p:cNvPicPr preferRelativeResize="0"/>
          <p:nvPr/>
        </p:nvPicPr>
        <p:blipFill rotWithShape="1">
          <a:blip r:embed="rId7">
            <a:alphaModFix/>
          </a:blip>
          <a:srcRect/>
          <a:stretch/>
        </p:blipFill>
        <p:spPr>
          <a:xfrm>
            <a:off x="11391602" y="4427190"/>
            <a:ext cx="228600" cy="228600"/>
          </a:xfrm>
          <a:prstGeom prst="rect">
            <a:avLst/>
          </a:prstGeom>
          <a:noFill/>
          <a:ln>
            <a:noFill/>
          </a:ln>
        </p:spPr>
      </p:pic>
      <p:sp>
        <p:nvSpPr>
          <p:cNvPr id="184" name="Google Shape;184;p20">
            <a:extLst>
              <a:ext uri="{FF2B5EF4-FFF2-40B4-BE49-F238E27FC236}">
                <a16:creationId xmlns:a16="http://schemas.microsoft.com/office/drawing/2014/main" id="{4D036D87-E5E8-6291-BE26-A6C899511143}"/>
              </a:ext>
            </a:extLst>
          </p:cNvPr>
          <p:cNvSpPr txBox="1"/>
          <p:nvPr/>
        </p:nvSpPr>
        <p:spPr>
          <a:xfrm>
            <a:off x="295275" y="3086100"/>
            <a:ext cx="11601450"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Test Phases (1000 msg/s Burst)</a:t>
            </a:r>
            <a:endParaRPr/>
          </a:p>
        </p:txBody>
      </p:sp>
      <p:sp>
        <p:nvSpPr>
          <p:cNvPr id="185" name="Google Shape;185;p20">
            <a:extLst>
              <a:ext uri="{FF2B5EF4-FFF2-40B4-BE49-F238E27FC236}">
                <a16:creationId xmlns:a16="http://schemas.microsoft.com/office/drawing/2014/main" id="{3AB1B207-A841-0933-692C-B065148E0064}"/>
              </a:ext>
            </a:extLst>
          </p:cNvPr>
          <p:cNvSpPr/>
          <p:nvPr/>
        </p:nvSpPr>
        <p:spPr>
          <a:xfrm>
            <a:off x="571500" y="4522440"/>
            <a:ext cx="11049000" cy="381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0">
            <a:extLst>
              <a:ext uri="{FF2B5EF4-FFF2-40B4-BE49-F238E27FC236}">
                <a16:creationId xmlns:a16="http://schemas.microsoft.com/office/drawing/2014/main" id="{D6475B7A-E2C1-A693-1764-1CAA1EC5E236}"/>
              </a:ext>
            </a:extLst>
          </p:cNvPr>
          <p:cNvSpPr txBox="1"/>
          <p:nvPr/>
        </p:nvSpPr>
        <p:spPr>
          <a:xfrm>
            <a:off x="-314325" y="3703290"/>
            <a:ext cx="2000250"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Baseline</a:t>
            </a:r>
            <a:endParaRPr/>
          </a:p>
        </p:txBody>
      </p:sp>
      <p:sp>
        <p:nvSpPr>
          <p:cNvPr id="187" name="Google Shape;187;p20">
            <a:extLst>
              <a:ext uri="{FF2B5EF4-FFF2-40B4-BE49-F238E27FC236}">
                <a16:creationId xmlns:a16="http://schemas.microsoft.com/office/drawing/2014/main" id="{25C3906A-7D35-61EE-784A-EAADED543E1F}"/>
              </a:ext>
            </a:extLst>
          </p:cNvPr>
          <p:cNvSpPr txBox="1"/>
          <p:nvPr/>
        </p:nvSpPr>
        <p:spPr>
          <a:xfrm>
            <a:off x="-266700" y="4187130"/>
            <a:ext cx="1905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10 msg/s</a:t>
            </a:r>
            <a:endParaRPr/>
          </a:p>
        </p:txBody>
      </p:sp>
      <p:sp>
        <p:nvSpPr>
          <p:cNvPr id="188" name="Google Shape;188;p20">
            <a:extLst>
              <a:ext uri="{FF2B5EF4-FFF2-40B4-BE49-F238E27FC236}">
                <a16:creationId xmlns:a16="http://schemas.microsoft.com/office/drawing/2014/main" id="{3293A2DE-BFBB-2344-1336-FE9A15FDC634}"/>
              </a:ext>
            </a:extLst>
          </p:cNvPr>
          <p:cNvSpPr txBox="1"/>
          <p:nvPr/>
        </p:nvSpPr>
        <p:spPr>
          <a:xfrm>
            <a:off x="3292375" y="4846290"/>
            <a:ext cx="2000250"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Medium Load</a:t>
            </a:r>
            <a:endParaRPr/>
          </a:p>
        </p:txBody>
      </p:sp>
      <p:sp>
        <p:nvSpPr>
          <p:cNvPr id="189" name="Google Shape;189;p20">
            <a:extLst>
              <a:ext uri="{FF2B5EF4-FFF2-40B4-BE49-F238E27FC236}">
                <a16:creationId xmlns:a16="http://schemas.microsoft.com/office/drawing/2014/main" id="{DB37EDF8-2B7B-A5A2-CF80-AEAB6210EED8}"/>
              </a:ext>
            </a:extLst>
          </p:cNvPr>
          <p:cNvSpPr txBox="1"/>
          <p:nvPr/>
        </p:nvSpPr>
        <p:spPr>
          <a:xfrm>
            <a:off x="3340000" y="5330130"/>
            <a:ext cx="1905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100 msg/s</a:t>
            </a:r>
            <a:endParaRPr/>
          </a:p>
        </p:txBody>
      </p:sp>
      <p:sp>
        <p:nvSpPr>
          <p:cNvPr id="190" name="Google Shape;190;p20">
            <a:extLst>
              <a:ext uri="{FF2B5EF4-FFF2-40B4-BE49-F238E27FC236}">
                <a16:creationId xmlns:a16="http://schemas.microsoft.com/office/drawing/2014/main" id="{771FB026-27E2-11D9-A586-73A6210B32D4}"/>
              </a:ext>
            </a:extLst>
          </p:cNvPr>
          <p:cNvSpPr txBox="1"/>
          <p:nvPr/>
        </p:nvSpPr>
        <p:spPr>
          <a:xfrm>
            <a:off x="6899076" y="3703290"/>
            <a:ext cx="2000250"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Burst</a:t>
            </a:r>
            <a:endParaRPr/>
          </a:p>
        </p:txBody>
      </p:sp>
      <p:sp>
        <p:nvSpPr>
          <p:cNvPr id="191" name="Google Shape;191;p20">
            <a:extLst>
              <a:ext uri="{FF2B5EF4-FFF2-40B4-BE49-F238E27FC236}">
                <a16:creationId xmlns:a16="http://schemas.microsoft.com/office/drawing/2014/main" id="{1511E470-7D01-E957-1FD2-FAF34E617F8E}"/>
              </a:ext>
            </a:extLst>
          </p:cNvPr>
          <p:cNvSpPr txBox="1"/>
          <p:nvPr/>
        </p:nvSpPr>
        <p:spPr>
          <a:xfrm>
            <a:off x="6946701" y="4187130"/>
            <a:ext cx="1905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1000 msg/s</a:t>
            </a:r>
            <a:endParaRPr/>
          </a:p>
        </p:txBody>
      </p:sp>
      <p:sp>
        <p:nvSpPr>
          <p:cNvPr id="192" name="Google Shape;192;p20">
            <a:extLst>
              <a:ext uri="{FF2B5EF4-FFF2-40B4-BE49-F238E27FC236}">
                <a16:creationId xmlns:a16="http://schemas.microsoft.com/office/drawing/2014/main" id="{76824923-0B93-84F3-1345-4BA4DF24B67B}"/>
              </a:ext>
            </a:extLst>
          </p:cNvPr>
          <p:cNvSpPr txBox="1"/>
          <p:nvPr/>
        </p:nvSpPr>
        <p:spPr>
          <a:xfrm>
            <a:off x="10686603" y="4846290"/>
            <a:ext cx="1638597"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Scale Down</a:t>
            </a:r>
            <a:endParaRPr/>
          </a:p>
        </p:txBody>
      </p:sp>
      <p:sp>
        <p:nvSpPr>
          <p:cNvPr id="193" name="Google Shape;193;p20">
            <a:extLst>
              <a:ext uri="{FF2B5EF4-FFF2-40B4-BE49-F238E27FC236}">
                <a16:creationId xmlns:a16="http://schemas.microsoft.com/office/drawing/2014/main" id="{FB2DFF7C-98CD-7B6E-D90E-A45EA893DED3}"/>
              </a:ext>
            </a:extLst>
          </p:cNvPr>
          <p:cNvSpPr txBox="1"/>
          <p:nvPr/>
        </p:nvSpPr>
        <p:spPr>
          <a:xfrm>
            <a:off x="10686603" y="5330130"/>
            <a:ext cx="1638597"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Recovery</a:t>
            </a:r>
            <a:endParaRPr/>
          </a:p>
        </p:txBody>
      </p:sp>
      <p:sp>
        <p:nvSpPr>
          <p:cNvPr id="194" name="Google Shape;194;p20">
            <a:extLst>
              <a:ext uri="{FF2B5EF4-FFF2-40B4-BE49-F238E27FC236}">
                <a16:creationId xmlns:a16="http://schemas.microsoft.com/office/drawing/2014/main" id="{54EAFB3D-800A-FE91-60E1-66BFA375AED1}"/>
              </a:ext>
            </a:extLst>
          </p:cNvPr>
          <p:cNvSpPr txBox="1"/>
          <p:nvPr/>
        </p:nvSpPr>
        <p:spPr>
          <a:xfrm>
            <a:off x="762000" y="571500"/>
            <a:ext cx="11401425"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0" i="0" u="none" strike="noStrike" cap="none">
                <a:solidFill>
                  <a:srgbClr val="F1F5F9"/>
                </a:solidFill>
                <a:latin typeface="Urbanist SemiBold"/>
                <a:ea typeface="Urbanist SemiBold"/>
                <a:cs typeface="Urbanist SemiBold"/>
                <a:sym typeface="Urbanist SemiBold"/>
              </a:rPr>
              <a:t>Exp 2: Elasticity</a:t>
            </a:r>
            <a:endParaRPr/>
          </a:p>
        </p:txBody>
      </p:sp>
      <p:sp>
        <p:nvSpPr>
          <p:cNvPr id="195" name="Google Shape;195;p20">
            <a:extLst>
              <a:ext uri="{FF2B5EF4-FFF2-40B4-BE49-F238E27FC236}">
                <a16:creationId xmlns:a16="http://schemas.microsoft.com/office/drawing/2014/main" id="{A1E538E8-BE3B-9E3D-0538-843837E2B955}"/>
              </a:ext>
            </a:extLst>
          </p:cNvPr>
          <p:cNvSpPr/>
          <p:nvPr/>
        </p:nvSpPr>
        <p:spPr>
          <a:xfrm>
            <a:off x="571500" y="571500"/>
            <a:ext cx="47625" cy="50289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 name="Audio 27">
            <a:extLst>
              <a:ext uri="{FF2B5EF4-FFF2-40B4-BE49-F238E27FC236}">
                <a16:creationId xmlns:a16="http://schemas.microsoft.com/office/drawing/2014/main" id="{1F9B63D4-62AB-8FFA-8468-6E310105BB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163300" y="239985"/>
            <a:ext cx="812800" cy="812800"/>
          </a:xfrm>
          <a:prstGeom prst="rect">
            <a:avLst/>
          </a:prstGeom>
        </p:spPr>
      </p:pic>
    </p:spTree>
    <p:extLst>
      <p:ext uri="{BB962C8B-B14F-4D97-AF65-F5344CB8AC3E}">
        <p14:creationId xmlns:p14="http://schemas.microsoft.com/office/powerpoint/2010/main" val="2749281505"/>
      </p:ext>
    </p:extLst>
  </p:cSld>
  <p:clrMapOvr>
    <a:masterClrMapping/>
  </p:clrMapOvr>
  <mc:AlternateContent xmlns:mc="http://schemas.openxmlformats.org/markup-compatibility/2006">
    <mc:Choice xmlns:p14="http://schemas.microsoft.com/office/powerpoint/2010/main" Requires="p14">
      <p:transition spd="slow" p14:dur="2000" advTm="24931"/>
    </mc:Choice>
    <mc:Fallback>
      <p:transition spd="slow" advTm="24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9"/>
        <p:cNvGrpSpPr/>
        <p:nvPr/>
      </p:nvGrpSpPr>
      <p:grpSpPr>
        <a:xfrm>
          <a:off x="0" y="0"/>
          <a:ext cx="0" cy="0"/>
          <a:chOff x="0" y="0"/>
          <a:chExt cx="0" cy="0"/>
        </a:xfrm>
      </p:grpSpPr>
      <p:pic>
        <p:nvPicPr>
          <p:cNvPr id="200" name="Google Shape;200;p21" descr="image.png"/>
          <p:cNvPicPr preferRelativeResize="0"/>
          <p:nvPr/>
        </p:nvPicPr>
        <p:blipFill rotWithShape="1">
          <a:blip r:embed="rId5">
            <a:alphaModFix/>
          </a:blip>
          <a:srcRect/>
          <a:stretch/>
        </p:blipFill>
        <p:spPr>
          <a:xfrm>
            <a:off x="0" y="0"/>
            <a:ext cx="12192000" cy="6858000"/>
          </a:xfrm>
          <a:prstGeom prst="rect">
            <a:avLst/>
          </a:prstGeom>
          <a:noFill/>
          <a:ln>
            <a:noFill/>
          </a:ln>
        </p:spPr>
      </p:pic>
      <p:sp>
        <p:nvSpPr>
          <p:cNvPr id="201" name="Google Shape;201;p21"/>
          <p:cNvSpPr txBox="1"/>
          <p:nvPr/>
        </p:nvSpPr>
        <p:spPr>
          <a:xfrm>
            <a:off x="6762750" y="1702449"/>
            <a:ext cx="4857900" cy="5388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4ADE80"/>
                </a:solidFill>
                <a:latin typeface="Inter"/>
                <a:ea typeface="Inter"/>
                <a:cs typeface="Inter"/>
                <a:sym typeface="Inter"/>
              </a:rPr>
              <a:t>Rapid Scale-Up:</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Pods increased 2 → 8 during burst.</a:t>
            </a:r>
            <a:endParaRPr/>
          </a:p>
        </p:txBody>
      </p:sp>
      <p:sp>
        <p:nvSpPr>
          <p:cNvPr id="202" name="Google Shape;202;p21"/>
          <p:cNvSpPr txBox="1"/>
          <p:nvPr/>
        </p:nvSpPr>
        <p:spPr>
          <a:xfrm>
            <a:off x="6762750" y="2454924"/>
            <a:ext cx="4857900" cy="5388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4ADE80"/>
                </a:solidFill>
                <a:latin typeface="Inter"/>
                <a:ea typeface="Inter"/>
                <a:cs typeface="Inter"/>
                <a:sym typeface="Inter"/>
              </a:rPr>
              <a:t>Queue Mgmt:</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Peaked at 45 msgs, cleared by 135s.</a:t>
            </a:r>
            <a:endParaRPr/>
          </a:p>
        </p:txBody>
      </p:sp>
      <p:sp>
        <p:nvSpPr>
          <p:cNvPr id="203" name="Google Shape;203;p21"/>
          <p:cNvSpPr txBox="1"/>
          <p:nvPr/>
        </p:nvSpPr>
        <p:spPr>
          <a:xfrm>
            <a:off x="6762750" y="3019957"/>
            <a:ext cx="4857900" cy="5388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4ADE80"/>
                </a:solidFill>
                <a:latin typeface="Inter"/>
                <a:ea typeface="Inter"/>
                <a:cs typeface="Inter"/>
                <a:sym typeface="Inter"/>
              </a:rPr>
              <a:t>Stable Latency:</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p95 stabilized at ≈85ms after initial spike.</a:t>
            </a:r>
            <a:endParaRPr/>
          </a:p>
        </p:txBody>
      </p:sp>
      <p:sp>
        <p:nvSpPr>
          <p:cNvPr id="204" name="Google Shape;204;p21"/>
          <p:cNvSpPr txBox="1"/>
          <p:nvPr/>
        </p:nvSpPr>
        <p:spPr>
          <a:xfrm>
            <a:off x="762000" y="571500"/>
            <a:ext cx="11401425"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0" i="0" u="none" strike="noStrike" cap="none">
                <a:solidFill>
                  <a:srgbClr val="F1F5F9"/>
                </a:solidFill>
                <a:latin typeface="Urbanist SemiBold"/>
                <a:ea typeface="Urbanist SemiBold"/>
                <a:cs typeface="Urbanist SemiBold"/>
                <a:sym typeface="Urbanist SemiBold"/>
              </a:rPr>
              <a:t>Exp 2 Results: Scaling Response</a:t>
            </a:r>
            <a:endParaRPr/>
          </a:p>
        </p:txBody>
      </p:sp>
      <p:sp>
        <p:nvSpPr>
          <p:cNvPr id="205" name="Google Shape;205;p21"/>
          <p:cNvSpPr/>
          <p:nvPr/>
        </p:nvSpPr>
        <p:spPr>
          <a:xfrm>
            <a:off x="571500" y="571500"/>
            <a:ext cx="47625" cy="50289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6" name="Google Shape;206;p21"/>
          <p:cNvPicPr preferRelativeResize="0"/>
          <p:nvPr/>
        </p:nvPicPr>
        <p:blipFill>
          <a:blip r:embed="rId6">
            <a:alphaModFix/>
          </a:blip>
          <a:stretch>
            <a:fillRect/>
          </a:stretch>
        </p:blipFill>
        <p:spPr>
          <a:xfrm>
            <a:off x="435800" y="1504125"/>
            <a:ext cx="5894750" cy="2420725"/>
          </a:xfrm>
          <a:prstGeom prst="rect">
            <a:avLst/>
          </a:prstGeom>
          <a:noFill/>
          <a:ln>
            <a:noFill/>
          </a:ln>
        </p:spPr>
      </p:pic>
      <p:pic>
        <p:nvPicPr>
          <p:cNvPr id="207" name="Google Shape;207;p21"/>
          <p:cNvPicPr preferRelativeResize="0"/>
          <p:nvPr/>
        </p:nvPicPr>
        <p:blipFill>
          <a:blip r:embed="rId7">
            <a:alphaModFix/>
          </a:blip>
          <a:stretch>
            <a:fillRect/>
          </a:stretch>
        </p:blipFill>
        <p:spPr>
          <a:xfrm>
            <a:off x="435800" y="4175675"/>
            <a:ext cx="5894750" cy="2484075"/>
          </a:xfrm>
          <a:prstGeom prst="rect">
            <a:avLst/>
          </a:prstGeom>
          <a:noFill/>
          <a:ln>
            <a:noFill/>
          </a:ln>
        </p:spPr>
      </p:pic>
      <p:pic>
        <p:nvPicPr>
          <p:cNvPr id="208" name="Google Shape;208;p21"/>
          <p:cNvPicPr preferRelativeResize="0"/>
          <p:nvPr/>
        </p:nvPicPr>
        <p:blipFill>
          <a:blip r:embed="rId8">
            <a:alphaModFix/>
          </a:blip>
          <a:stretch>
            <a:fillRect/>
          </a:stretch>
        </p:blipFill>
        <p:spPr>
          <a:xfrm>
            <a:off x="6762750" y="4175675"/>
            <a:ext cx="4934831" cy="2484075"/>
          </a:xfrm>
          <a:prstGeom prst="rect">
            <a:avLst/>
          </a:prstGeom>
          <a:noFill/>
          <a:ln>
            <a:noFill/>
          </a:ln>
        </p:spPr>
      </p:pic>
      <p:pic>
        <p:nvPicPr>
          <p:cNvPr id="15" name="Audio 14">
            <a:extLst>
              <a:ext uri="{FF2B5EF4-FFF2-40B4-BE49-F238E27FC236}">
                <a16:creationId xmlns:a16="http://schemas.microsoft.com/office/drawing/2014/main" id="{7F892410-EAD2-F50A-3D8E-187D08B134EA}"/>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163300" y="470133"/>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08"/>
    </mc:Choice>
    <mc:Fallback>
      <p:transition spd="slow" advTm="4940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2"/>
        <p:cNvGrpSpPr/>
        <p:nvPr/>
      </p:nvGrpSpPr>
      <p:grpSpPr>
        <a:xfrm>
          <a:off x="0" y="0"/>
          <a:ext cx="0" cy="0"/>
          <a:chOff x="0" y="0"/>
          <a:chExt cx="0" cy="0"/>
        </a:xfrm>
      </p:grpSpPr>
      <p:pic>
        <p:nvPicPr>
          <p:cNvPr id="213" name="Google Shape;213;p22" descr="image.png"/>
          <p:cNvPicPr preferRelativeResize="0"/>
          <p:nvPr/>
        </p:nvPicPr>
        <p:blipFill rotWithShape="1">
          <a:blip r:embed="rId5">
            <a:alphaModFix/>
          </a:blip>
          <a:srcRect/>
          <a:stretch/>
        </p:blipFill>
        <p:spPr>
          <a:xfrm>
            <a:off x="0" y="0"/>
            <a:ext cx="12192000" cy="6858000"/>
          </a:xfrm>
          <a:prstGeom prst="rect">
            <a:avLst/>
          </a:prstGeom>
          <a:noFill/>
          <a:ln>
            <a:noFill/>
          </a:ln>
        </p:spPr>
      </p:pic>
      <p:pic>
        <p:nvPicPr>
          <p:cNvPr id="214" name="Google Shape;214;p22" descr="image.png"/>
          <p:cNvPicPr preferRelativeResize="0"/>
          <p:nvPr/>
        </p:nvPicPr>
        <p:blipFill rotWithShape="1">
          <a:blip r:embed="rId6">
            <a:alphaModFix/>
          </a:blip>
          <a:srcRect/>
          <a:stretch/>
        </p:blipFill>
        <p:spPr>
          <a:xfrm>
            <a:off x="571500" y="2400300"/>
            <a:ext cx="5238750" cy="2941290"/>
          </a:xfrm>
          <a:prstGeom prst="rect">
            <a:avLst/>
          </a:prstGeom>
          <a:noFill/>
          <a:ln>
            <a:noFill/>
          </a:ln>
        </p:spPr>
      </p:pic>
      <p:pic>
        <p:nvPicPr>
          <p:cNvPr id="215" name="Google Shape;215;p22" descr="image.png"/>
          <p:cNvPicPr preferRelativeResize="0"/>
          <p:nvPr/>
        </p:nvPicPr>
        <p:blipFill rotWithShape="1">
          <a:blip r:embed="rId7">
            <a:alphaModFix/>
          </a:blip>
          <a:srcRect/>
          <a:stretch/>
        </p:blipFill>
        <p:spPr>
          <a:xfrm>
            <a:off x="6381750" y="2400300"/>
            <a:ext cx="5238750" cy="2941290"/>
          </a:xfrm>
          <a:prstGeom prst="rect">
            <a:avLst/>
          </a:prstGeom>
          <a:noFill/>
          <a:ln>
            <a:noFill/>
          </a:ln>
        </p:spPr>
      </p:pic>
      <p:pic>
        <p:nvPicPr>
          <p:cNvPr id="216" name="Google Shape;216;p22" descr="image.png"/>
          <p:cNvPicPr preferRelativeResize="0"/>
          <p:nvPr/>
        </p:nvPicPr>
        <p:blipFill rotWithShape="1">
          <a:blip r:embed="rId8">
            <a:alphaModFix/>
          </a:blip>
          <a:srcRect/>
          <a:stretch/>
        </p:blipFill>
        <p:spPr>
          <a:xfrm>
            <a:off x="962025" y="2809875"/>
            <a:ext cx="152400" cy="152400"/>
          </a:xfrm>
          <a:prstGeom prst="rect">
            <a:avLst/>
          </a:prstGeom>
          <a:noFill/>
          <a:ln>
            <a:noFill/>
          </a:ln>
        </p:spPr>
      </p:pic>
      <p:sp>
        <p:nvSpPr>
          <p:cNvPr id="217" name="Google Shape;217;p22"/>
          <p:cNvSpPr txBox="1"/>
          <p:nvPr/>
        </p:nvSpPr>
        <p:spPr>
          <a:xfrm>
            <a:off x="962025" y="298132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Successes</a:t>
            </a:r>
            <a:endParaRPr/>
          </a:p>
        </p:txBody>
      </p:sp>
      <p:sp>
        <p:nvSpPr>
          <p:cNvPr id="218" name="Google Shape;218;p22"/>
          <p:cNvSpPr txBox="1"/>
          <p:nvPr/>
        </p:nvSpPr>
        <p:spPr>
          <a:xfrm>
            <a:off x="962025" y="3465165"/>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HPA prevented long-term backlog.</a:t>
            </a:r>
            <a:endParaRPr/>
          </a:p>
        </p:txBody>
      </p:sp>
      <p:sp>
        <p:nvSpPr>
          <p:cNvPr id="219" name="Google Shape;219;p22"/>
          <p:cNvSpPr txBox="1"/>
          <p:nvPr/>
        </p:nvSpPr>
        <p:spPr>
          <a:xfrm>
            <a:off x="962025" y="3960465"/>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Balanced throughput vs. resource cost.</a:t>
            </a:r>
            <a:endParaRPr/>
          </a:p>
        </p:txBody>
      </p:sp>
      <p:sp>
        <p:nvSpPr>
          <p:cNvPr id="220" name="Google Shape;220;p22"/>
          <p:cNvSpPr txBox="1"/>
          <p:nvPr/>
        </p:nvSpPr>
        <p:spPr>
          <a:xfrm>
            <a:off x="962025" y="4455765"/>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Smooth scale-down (no oscillation).</a:t>
            </a:r>
            <a:endParaRPr/>
          </a:p>
        </p:txBody>
      </p:sp>
      <p:pic>
        <p:nvPicPr>
          <p:cNvPr id="221" name="Google Shape;221;p22" descr="image.png"/>
          <p:cNvPicPr preferRelativeResize="0"/>
          <p:nvPr/>
        </p:nvPicPr>
        <p:blipFill rotWithShape="1">
          <a:blip r:embed="rId9">
            <a:alphaModFix/>
          </a:blip>
          <a:srcRect/>
          <a:stretch/>
        </p:blipFill>
        <p:spPr>
          <a:xfrm>
            <a:off x="6772275" y="2809875"/>
            <a:ext cx="152400" cy="152400"/>
          </a:xfrm>
          <a:prstGeom prst="rect">
            <a:avLst/>
          </a:prstGeom>
          <a:noFill/>
          <a:ln>
            <a:noFill/>
          </a:ln>
        </p:spPr>
      </p:pic>
      <p:sp>
        <p:nvSpPr>
          <p:cNvPr id="222" name="Google Shape;222;p22"/>
          <p:cNvSpPr txBox="1"/>
          <p:nvPr/>
        </p:nvSpPr>
        <p:spPr>
          <a:xfrm>
            <a:off x="6772275" y="298132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Limitations</a:t>
            </a:r>
            <a:endParaRPr/>
          </a:p>
        </p:txBody>
      </p:sp>
      <p:sp>
        <p:nvSpPr>
          <p:cNvPr id="223" name="Google Shape;223;p22"/>
          <p:cNvSpPr txBox="1"/>
          <p:nvPr/>
        </p:nvSpPr>
        <p:spPr>
          <a:xfrm>
            <a:off x="6772275" y="3465165"/>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CPU is an indirect load signal.</a:t>
            </a:r>
            <a:endParaRPr/>
          </a:p>
        </p:txBody>
      </p:sp>
      <p:sp>
        <p:nvSpPr>
          <p:cNvPr id="224" name="Google Shape;224;p22"/>
          <p:cNvSpPr txBox="1"/>
          <p:nvPr/>
        </p:nvSpPr>
        <p:spPr>
          <a:xfrm>
            <a:off x="6772275" y="396046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Recommendation:</a:t>
            </a:r>
            <a:r>
              <a:rPr lang="en-US" sz="1500" b="0" i="0" u="none" strike="noStrike" cap="none">
                <a:solidFill>
                  <a:srgbClr val="94A3B8"/>
                </a:solidFill>
                <a:latin typeface="Inter"/>
                <a:ea typeface="Inter"/>
                <a:cs typeface="Inter"/>
                <a:sym typeface="Inter"/>
              </a:rPr>
              <a:t> Use KEDA for queue-depth based autoscaling for faster reaction.</a:t>
            </a:r>
            <a:endParaRPr/>
          </a:p>
        </p:txBody>
      </p:sp>
      <p:sp>
        <p:nvSpPr>
          <p:cNvPr id="225" name="Google Shape;225;p22"/>
          <p:cNvSpPr txBox="1"/>
          <p:nvPr/>
        </p:nvSpPr>
        <p:spPr>
          <a:xfrm>
            <a:off x="762000" y="571500"/>
            <a:ext cx="11401425"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0" i="0" u="none" strike="noStrike" cap="none">
                <a:solidFill>
                  <a:srgbClr val="F1F5F9"/>
                </a:solidFill>
                <a:latin typeface="Urbanist SemiBold"/>
                <a:ea typeface="Urbanist SemiBold"/>
                <a:cs typeface="Urbanist SemiBold"/>
                <a:sym typeface="Urbanist SemiBold"/>
              </a:rPr>
              <a:t>Exp 2 Analysis</a:t>
            </a:r>
            <a:endParaRPr/>
          </a:p>
        </p:txBody>
      </p:sp>
      <p:sp>
        <p:nvSpPr>
          <p:cNvPr id="226" name="Google Shape;226;p22"/>
          <p:cNvSpPr/>
          <p:nvPr/>
        </p:nvSpPr>
        <p:spPr>
          <a:xfrm>
            <a:off x="571500" y="571500"/>
            <a:ext cx="47625" cy="50289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 name="Audio 15">
            <a:extLst>
              <a:ext uri="{FF2B5EF4-FFF2-40B4-BE49-F238E27FC236}">
                <a16:creationId xmlns:a16="http://schemas.microsoft.com/office/drawing/2014/main" id="{8B5C0B3B-08B6-CA81-AF40-54416DC29444}"/>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163300" y="5080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085"/>
    </mc:Choice>
    <mc:Fallback>
      <p:transition spd="slow" advTm="24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pic>
        <p:nvPicPr>
          <p:cNvPr id="231" name="Google Shape;231;p23" descr="image.png"/>
          <p:cNvPicPr preferRelativeResize="0"/>
          <p:nvPr/>
        </p:nvPicPr>
        <p:blipFill rotWithShape="1">
          <a:blip r:embed="rId5">
            <a:alphaModFix/>
          </a:blip>
          <a:srcRect/>
          <a:stretch/>
        </p:blipFill>
        <p:spPr>
          <a:xfrm>
            <a:off x="0" y="0"/>
            <a:ext cx="12192000" cy="6858000"/>
          </a:xfrm>
          <a:prstGeom prst="rect">
            <a:avLst/>
          </a:prstGeom>
          <a:noFill/>
          <a:ln>
            <a:noFill/>
          </a:ln>
        </p:spPr>
      </p:pic>
      <p:sp>
        <p:nvSpPr>
          <p:cNvPr id="232" name="Google Shape;232;p23"/>
          <p:cNvSpPr txBox="1"/>
          <p:nvPr/>
        </p:nvSpPr>
        <p:spPr>
          <a:xfrm>
            <a:off x="291213" y="440800"/>
            <a:ext cx="11401500" cy="1163400"/>
          </a:xfrm>
          <a:prstGeom prst="rect">
            <a:avLst/>
          </a:prstGeom>
          <a:noFill/>
          <a:ln>
            <a:noFill/>
          </a:ln>
        </p:spPr>
        <p:txBody>
          <a:bodyPr spcFirstLastPara="1" wrap="square" lIns="0" tIns="0" rIns="0" bIns="0" anchor="t" anchorCtr="0">
            <a:spAutoFit/>
          </a:bodyPr>
          <a:lstStyle/>
          <a:p>
            <a:pPr marL="0" lvl="0" indent="0" algn="l" rtl="0">
              <a:lnSpc>
                <a:spcPct val="109972"/>
              </a:lnSpc>
              <a:spcBef>
                <a:spcPts val="0"/>
              </a:spcBef>
              <a:spcAft>
                <a:spcPts val="0"/>
              </a:spcAft>
              <a:buClr>
                <a:schemeClr val="dk1"/>
              </a:buClr>
              <a:buFont typeface="Arial"/>
              <a:buNone/>
            </a:pPr>
            <a:r>
              <a:rPr lang="en-US" sz="3600">
                <a:solidFill>
                  <a:srgbClr val="F1F5F9"/>
                </a:solidFill>
                <a:latin typeface="Urbanist SemiBold"/>
                <a:ea typeface="Urbanist SemiBold"/>
                <a:cs typeface="Urbanist SemiBold"/>
                <a:sym typeface="Urbanist SemiBold"/>
              </a:rPr>
              <a:t>Exp 3: Fault Tolerance</a:t>
            </a:r>
            <a:endParaRPr>
              <a:solidFill>
                <a:schemeClr val="dk1"/>
              </a:solidFill>
            </a:endParaRPr>
          </a:p>
          <a:p>
            <a:pPr marL="0" marR="0" lvl="0" indent="0" algn="l" rtl="0">
              <a:lnSpc>
                <a:spcPct val="109972"/>
              </a:lnSpc>
              <a:spcBef>
                <a:spcPts val="0"/>
              </a:spcBef>
              <a:spcAft>
                <a:spcPts val="0"/>
              </a:spcAft>
              <a:buNone/>
            </a:pPr>
            <a:endParaRPr sz="3600">
              <a:solidFill>
                <a:srgbClr val="F1F5F9"/>
              </a:solidFill>
              <a:latin typeface="Urbanist SemiBold"/>
              <a:ea typeface="Urbanist SemiBold"/>
              <a:cs typeface="Urbanist SemiBold"/>
              <a:sym typeface="Urbanist SemiBold"/>
            </a:endParaRPr>
          </a:p>
        </p:txBody>
      </p:sp>
      <p:sp>
        <p:nvSpPr>
          <p:cNvPr id="233" name="Google Shape;233;p23"/>
          <p:cNvSpPr/>
          <p:nvPr/>
        </p:nvSpPr>
        <p:spPr>
          <a:xfrm>
            <a:off x="571500" y="571500"/>
            <a:ext cx="47700" cy="5028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34" name="Google Shape;234;p23"/>
          <p:cNvGrpSpPr/>
          <p:nvPr/>
        </p:nvGrpSpPr>
        <p:grpSpPr>
          <a:xfrm>
            <a:off x="4226243" y="2090732"/>
            <a:ext cx="3531422" cy="3560415"/>
            <a:chOff x="6238872" y="2090719"/>
            <a:chExt cx="3531422" cy="3560415"/>
          </a:xfrm>
        </p:grpSpPr>
        <p:pic>
          <p:nvPicPr>
            <p:cNvPr id="235" name="Google Shape;235;p23" descr="image.png"/>
            <p:cNvPicPr preferRelativeResize="0"/>
            <p:nvPr/>
          </p:nvPicPr>
          <p:blipFill rotWithShape="1">
            <a:blip r:embed="rId6">
              <a:alphaModFix/>
            </a:blip>
            <a:srcRect/>
            <a:stretch/>
          </p:blipFill>
          <p:spPr>
            <a:xfrm>
              <a:off x="6238872" y="2090719"/>
              <a:ext cx="3531422" cy="3560415"/>
            </a:xfrm>
            <a:prstGeom prst="rect">
              <a:avLst/>
            </a:prstGeom>
            <a:noFill/>
            <a:ln>
              <a:noFill/>
            </a:ln>
          </p:spPr>
        </p:pic>
        <p:sp>
          <p:nvSpPr>
            <p:cNvPr id="236" name="Google Shape;236;p23"/>
            <p:cNvSpPr txBox="1"/>
            <p:nvPr/>
          </p:nvSpPr>
          <p:spPr>
            <a:xfrm>
              <a:off x="6419659" y="3586894"/>
              <a:ext cx="3169800" cy="323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CA8A04"/>
                  </a:solidFill>
                  <a:latin typeface="Urbanist"/>
                  <a:ea typeface="Urbanist"/>
                  <a:cs typeface="Urbanist"/>
                  <a:sym typeface="Urbanist"/>
                </a:rPr>
                <a:t>Scenario 2: S3 Outage</a:t>
              </a:r>
              <a:endParaRPr/>
            </a:p>
          </p:txBody>
        </p:sp>
      </p:grpSp>
      <p:pic>
        <p:nvPicPr>
          <p:cNvPr id="237" name="Google Shape;237;p23" descr="image.png"/>
          <p:cNvPicPr preferRelativeResize="0"/>
          <p:nvPr/>
        </p:nvPicPr>
        <p:blipFill rotWithShape="1">
          <a:blip r:embed="rId7">
            <a:alphaModFix/>
          </a:blip>
          <a:srcRect/>
          <a:stretch/>
        </p:blipFill>
        <p:spPr>
          <a:xfrm>
            <a:off x="8018432" y="2090725"/>
            <a:ext cx="3922575" cy="3560425"/>
          </a:xfrm>
          <a:prstGeom prst="rect">
            <a:avLst/>
          </a:prstGeom>
          <a:noFill/>
          <a:ln>
            <a:noFill/>
          </a:ln>
        </p:spPr>
      </p:pic>
      <p:sp>
        <p:nvSpPr>
          <p:cNvPr id="238" name="Google Shape;238;p23"/>
          <p:cNvSpPr txBox="1"/>
          <p:nvPr/>
        </p:nvSpPr>
        <p:spPr>
          <a:xfrm>
            <a:off x="8130232" y="3603146"/>
            <a:ext cx="5500800" cy="323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1D4ED8"/>
                </a:solidFill>
                <a:latin typeface="Urbanist"/>
                <a:ea typeface="Urbanist"/>
                <a:cs typeface="Urbanist"/>
                <a:sym typeface="Urbanist"/>
              </a:rPr>
              <a:t>Scenario 3: 7/8 Pods Dropped</a:t>
            </a:r>
            <a:endParaRPr/>
          </a:p>
        </p:txBody>
      </p:sp>
      <p:grpSp>
        <p:nvGrpSpPr>
          <p:cNvPr id="239" name="Google Shape;239;p23"/>
          <p:cNvGrpSpPr/>
          <p:nvPr/>
        </p:nvGrpSpPr>
        <p:grpSpPr>
          <a:xfrm>
            <a:off x="225773" y="2090734"/>
            <a:ext cx="3739691" cy="3560415"/>
            <a:chOff x="571500" y="2090737"/>
            <a:chExt cx="5381625" cy="3560415"/>
          </a:xfrm>
        </p:grpSpPr>
        <p:pic>
          <p:nvPicPr>
            <p:cNvPr id="240" name="Google Shape;240;p23" descr="image.png"/>
            <p:cNvPicPr preferRelativeResize="0"/>
            <p:nvPr/>
          </p:nvPicPr>
          <p:blipFill rotWithShape="1">
            <a:blip r:embed="rId7">
              <a:alphaModFix/>
            </a:blip>
            <a:srcRect/>
            <a:stretch/>
          </p:blipFill>
          <p:spPr>
            <a:xfrm>
              <a:off x="571500" y="2090737"/>
              <a:ext cx="5381625" cy="3560415"/>
            </a:xfrm>
            <a:prstGeom prst="rect">
              <a:avLst/>
            </a:prstGeom>
            <a:noFill/>
            <a:ln>
              <a:noFill/>
            </a:ln>
          </p:spPr>
        </p:pic>
        <p:sp>
          <p:nvSpPr>
            <p:cNvPr id="241" name="Google Shape;241;p23"/>
            <p:cNvSpPr txBox="1"/>
            <p:nvPr/>
          </p:nvSpPr>
          <p:spPr>
            <a:xfrm>
              <a:off x="847026" y="3586912"/>
              <a:ext cx="4830600" cy="323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B91C1C"/>
                  </a:solidFill>
                  <a:latin typeface="Urbanist"/>
                  <a:ea typeface="Urbanist"/>
                  <a:cs typeface="Urbanist"/>
                  <a:sym typeface="Urbanist"/>
                </a:rPr>
                <a:t>Scenario 1: Malformed XML</a:t>
              </a:r>
              <a:endParaRPr/>
            </a:p>
          </p:txBody>
        </p:sp>
      </p:grpSp>
      <p:pic>
        <p:nvPicPr>
          <p:cNvPr id="12" name="Audio 11">
            <a:extLst>
              <a:ext uri="{FF2B5EF4-FFF2-40B4-BE49-F238E27FC236}">
                <a16:creationId xmlns:a16="http://schemas.microsoft.com/office/drawing/2014/main" id="{C6B99DBF-5381-B64A-E51F-B664A51E5EE5}"/>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163300" y="365821"/>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337"/>
    </mc:Choice>
    <mc:Fallback>
      <p:transition spd="slow" advTm="273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5"/>
        <p:cNvGrpSpPr/>
        <p:nvPr/>
      </p:nvGrpSpPr>
      <p:grpSpPr>
        <a:xfrm>
          <a:off x="0" y="0"/>
          <a:ext cx="0" cy="0"/>
          <a:chOff x="0" y="0"/>
          <a:chExt cx="0" cy="0"/>
        </a:xfrm>
      </p:grpSpPr>
      <p:pic>
        <p:nvPicPr>
          <p:cNvPr id="246" name="Google Shape;246;p24" descr="image.png"/>
          <p:cNvPicPr preferRelativeResize="0"/>
          <p:nvPr/>
        </p:nvPicPr>
        <p:blipFill rotWithShape="1">
          <a:blip r:embed="rId5">
            <a:alphaModFix/>
          </a:blip>
          <a:srcRect/>
          <a:stretch/>
        </p:blipFill>
        <p:spPr>
          <a:xfrm>
            <a:off x="0" y="0"/>
            <a:ext cx="12192000" cy="6858000"/>
          </a:xfrm>
          <a:prstGeom prst="rect">
            <a:avLst/>
          </a:prstGeom>
          <a:noFill/>
          <a:ln>
            <a:noFill/>
          </a:ln>
        </p:spPr>
      </p:pic>
      <p:sp>
        <p:nvSpPr>
          <p:cNvPr id="247" name="Google Shape;247;p24"/>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0" i="0" u="none" strike="noStrike" cap="none">
                <a:solidFill>
                  <a:srgbClr val="F1F5F9"/>
                </a:solidFill>
                <a:latin typeface="Urbanist SemiBold"/>
                <a:ea typeface="Urbanist SemiBold"/>
                <a:cs typeface="Urbanist SemiBold"/>
                <a:sym typeface="Urbanist SemiBold"/>
              </a:rPr>
              <a:t>Exp 3 Results: </a:t>
            </a:r>
            <a:r>
              <a:rPr lang="en-US" sz="3600">
                <a:solidFill>
                  <a:srgbClr val="F1F5F9"/>
                </a:solidFill>
                <a:latin typeface="Urbanist SemiBold"/>
                <a:ea typeface="Urbanist SemiBold"/>
                <a:cs typeface="Urbanist SemiBold"/>
                <a:sym typeface="Urbanist SemiBold"/>
              </a:rPr>
              <a:t>Malformed XML Input</a:t>
            </a:r>
            <a:endParaRPr/>
          </a:p>
        </p:txBody>
      </p:sp>
      <p:sp>
        <p:nvSpPr>
          <p:cNvPr id="248" name="Google Shape;248;p24"/>
          <p:cNvSpPr/>
          <p:nvPr/>
        </p:nvSpPr>
        <p:spPr>
          <a:xfrm>
            <a:off x="571500" y="571500"/>
            <a:ext cx="47700" cy="5028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49" name="Google Shape;249;p24"/>
          <p:cNvGrpSpPr/>
          <p:nvPr/>
        </p:nvGrpSpPr>
        <p:grpSpPr>
          <a:xfrm>
            <a:off x="619183" y="1756169"/>
            <a:ext cx="5745961" cy="3560415"/>
            <a:chOff x="571500" y="2090737"/>
            <a:chExt cx="5381625" cy="3560415"/>
          </a:xfrm>
        </p:grpSpPr>
        <p:pic>
          <p:nvPicPr>
            <p:cNvPr id="250" name="Google Shape;250;p24" descr="image.png"/>
            <p:cNvPicPr preferRelativeResize="0"/>
            <p:nvPr/>
          </p:nvPicPr>
          <p:blipFill rotWithShape="1">
            <a:blip r:embed="rId6">
              <a:alphaModFix/>
            </a:blip>
            <a:srcRect/>
            <a:stretch/>
          </p:blipFill>
          <p:spPr>
            <a:xfrm>
              <a:off x="571500" y="2090737"/>
              <a:ext cx="5381625" cy="3560415"/>
            </a:xfrm>
            <a:prstGeom prst="rect">
              <a:avLst/>
            </a:prstGeom>
            <a:noFill/>
            <a:ln>
              <a:noFill/>
            </a:ln>
          </p:spPr>
        </p:pic>
        <p:sp>
          <p:nvSpPr>
            <p:cNvPr id="251" name="Google Shape;251;p24"/>
            <p:cNvSpPr txBox="1"/>
            <p:nvPr/>
          </p:nvSpPr>
          <p:spPr>
            <a:xfrm>
              <a:off x="962025" y="2481262"/>
              <a:ext cx="4830600" cy="323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B91C1C"/>
                  </a:solidFill>
                  <a:latin typeface="Urbanist"/>
                  <a:ea typeface="Urbanist"/>
                  <a:cs typeface="Urbanist"/>
                  <a:sym typeface="Urbanist"/>
                </a:rPr>
                <a:t>Scenario 1: Malformed XML</a:t>
              </a:r>
              <a:endParaRPr/>
            </a:p>
          </p:txBody>
        </p:sp>
        <p:sp>
          <p:nvSpPr>
            <p:cNvPr id="252" name="Google Shape;252;p24"/>
            <p:cNvSpPr txBox="1"/>
            <p:nvPr/>
          </p:nvSpPr>
          <p:spPr>
            <a:xfrm>
              <a:off x="962025" y="2965102"/>
              <a:ext cx="46005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987 (98.7%)</a:t>
              </a:r>
              <a:r>
                <a:rPr lang="en-US" sz="1500" b="0" i="0" u="none" strike="noStrike" cap="none">
                  <a:solidFill>
                    <a:srgbClr val="475569"/>
                  </a:solidFill>
                  <a:latin typeface="Inter"/>
                  <a:ea typeface="Inter"/>
                  <a:cs typeface="Inter"/>
                  <a:sym typeface="Inter"/>
                </a:rPr>
                <a:t> bad messages detected &amp; moved to </a:t>
              </a:r>
              <a:r>
                <a:rPr lang="en-US" sz="1500" b="1" i="0" u="none" strike="noStrike" cap="none">
                  <a:solidFill>
                    <a:srgbClr val="475569"/>
                  </a:solidFill>
                  <a:latin typeface="Inter"/>
                  <a:ea typeface="Inter"/>
                  <a:cs typeface="Inter"/>
                  <a:sym typeface="Inter"/>
                </a:rPr>
                <a:t>DLQ</a:t>
              </a:r>
              <a:r>
                <a:rPr lang="en-US" sz="1500" b="0" i="0" u="none" strike="noStrike" cap="none">
                  <a:solidFill>
                    <a:srgbClr val="475569"/>
                  </a:solidFill>
                  <a:latin typeface="Inter"/>
                  <a:ea typeface="Inter"/>
                  <a:cs typeface="Inter"/>
                  <a:sym typeface="Inter"/>
                </a:rPr>
                <a:t>.</a:t>
              </a:r>
              <a:endParaRPr/>
            </a:p>
          </p:txBody>
        </p:sp>
        <p:sp>
          <p:nvSpPr>
            <p:cNvPr id="253" name="Google Shape;253;p24"/>
            <p:cNvSpPr txBox="1"/>
            <p:nvPr/>
          </p:nvSpPr>
          <p:spPr>
            <a:xfrm>
              <a:off x="962025" y="3765202"/>
              <a:ext cx="46005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0</a:t>
              </a:r>
              <a:r>
                <a:rPr lang="en-US" sz="1500" b="0" i="0" u="none" strike="noStrike" cap="none">
                  <a:solidFill>
                    <a:srgbClr val="475569"/>
                  </a:solidFill>
                  <a:latin typeface="Inter"/>
                  <a:ea typeface="Inter"/>
                  <a:cs typeface="Inter"/>
                  <a:sym typeface="Inter"/>
                </a:rPr>
                <a:t> Pod crashes.</a:t>
              </a:r>
              <a:endParaRPr/>
            </a:p>
          </p:txBody>
        </p:sp>
        <p:sp>
          <p:nvSpPr>
            <p:cNvPr id="254" name="Google Shape;254;p24"/>
            <p:cNvSpPr/>
            <p:nvPr/>
          </p:nvSpPr>
          <p:spPr>
            <a:xfrm>
              <a:off x="962025" y="4260502"/>
              <a:ext cx="4600500" cy="96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5" name="Google Shape;255;p24"/>
            <p:cNvSpPr txBox="1"/>
            <p:nvPr/>
          </p:nvSpPr>
          <p:spPr>
            <a:xfrm>
              <a:off x="712582" y="4460527"/>
              <a:ext cx="4600500" cy="231000"/>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Clean Isolation:</a:t>
              </a:r>
              <a:r>
                <a:rPr lang="en-US" sz="1500" b="0" i="0" u="none" strike="noStrike" cap="none">
                  <a:solidFill>
                    <a:srgbClr val="475569"/>
                  </a:solidFill>
                  <a:latin typeface="Inter"/>
                  <a:ea typeface="Inter"/>
                  <a:cs typeface="Inter"/>
                  <a:sym typeface="Inter"/>
                </a:rPr>
                <a:t> Parsing failures did not cascade.</a:t>
              </a:r>
              <a:endParaRPr/>
            </a:p>
          </p:txBody>
        </p:sp>
      </p:grpSp>
      <p:pic>
        <p:nvPicPr>
          <p:cNvPr id="256" name="Google Shape;256;p24"/>
          <p:cNvPicPr preferRelativeResize="0"/>
          <p:nvPr/>
        </p:nvPicPr>
        <p:blipFill>
          <a:blip r:embed="rId7">
            <a:alphaModFix/>
          </a:blip>
          <a:stretch>
            <a:fillRect/>
          </a:stretch>
        </p:blipFill>
        <p:spPr>
          <a:xfrm>
            <a:off x="6607501" y="1147300"/>
            <a:ext cx="4894151" cy="5397550"/>
          </a:xfrm>
          <a:prstGeom prst="rect">
            <a:avLst/>
          </a:prstGeom>
          <a:noFill/>
          <a:ln>
            <a:noFill/>
          </a:ln>
        </p:spPr>
      </p:pic>
      <p:pic>
        <p:nvPicPr>
          <p:cNvPr id="16" name="Audio 15">
            <a:extLst>
              <a:ext uri="{FF2B5EF4-FFF2-40B4-BE49-F238E27FC236}">
                <a16:creationId xmlns:a16="http://schemas.microsoft.com/office/drawing/2014/main" id="{E4A104C1-068B-6265-065A-EF5C6238CB7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163300" y="2615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706"/>
    </mc:Choice>
    <mc:Fallback>
      <p:transition spd="slow" advTm="257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0"/>
        <p:cNvGrpSpPr/>
        <p:nvPr/>
      </p:nvGrpSpPr>
      <p:grpSpPr>
        <a:xfrm>
          <a:off x="0" y="0"/>
          <a:ext cx="0" cy="0"/>
          <a:chOff x="0" y="0"/>
          <a:chExt cx="0" cy="0"/>
        </a:xfrm>
      </p:grpSpPr>
      <p:pic>
        <p:nvPicPr>
          <p:cNvPr id="261" name="Google Shape;261;p25" descr="image.png"/>
          <p:cNvPicPr preferRelativeResize="0"/>
          <p:nvPr/>
        </p:nvPicPr>
        <p:blipFill rotWithShape="1">
          <a:blip r:embed="rId5">
            <a:alphaModFix/>
          </a:blip>
          <a:srcRect/>
          <a:stretch/>
        </p:blipFill>
        <p:spPr>
          <a:xfrm>
            <a:off x="0" y="0"/>
            <a:ext cx="12192000" cy="6858000"/>
          </a:xfrm>
          <a:prstGeom prst="rect">
            <a:avLst/>
          </a:prstGeom>
          <a:noFill/>
          <a:ln>
            <a:noFill/>
          </a:ln>
        </p:spPr>
      </p:pic>
      <p:sp>
        <p:nvSpPr>
          <p:cNvPr id="262" name="Google Shape;262;p25"/>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0" i="0" u="none" strike="noStrike" cap="none">
                <a:solidFill>
                  <a:srgbClr val="F1F5F9"/>
                </a:solidFill>
                <a:latin typeface="Urbanist SemiBold"/>
                <a:ea typeface="Urbanist SemiBold"/>
                <a:cs typeface="Urbanist SemiBold"/>
                <a:sym typeface="Urbanist SemiBold"/>
              </a:rPr>
              <a:t>Exp 3 Results: </a:t>
            </a:r>
            <a:r>
              <a:rPr lang="en-US" sz="3600">
                <a:solidFill>
                  <a:srgbClr val="F1F5F9"/>
                </a:solidFill>
                <a:latin typeface="Urbanist SemiBold"/>
                <a:ea typeface="Urbanist SemiBold"/>
                <a:cs typeface="Urbanist SemiBold"/>
                <a:sym typeface="Urbanist SemiBold"/>
              </a:rPr>
              <a:t>Malformed XML Input</a:t>
            </a:r>
            <a:endParaRPr/>
          </a:p>
        </p:txBody>
      </p:sp>
      <p:sp>
        <p:nvSpPr>
          <p:cNvPr id="263" name="Google Shape;263;p25"/>
          <p:cNvSpPr/>
          <p:nvPr/>
        </p:nvSpPr>
        <p:spPr>
          <a:xfrm>
            <a:off x="571500" y="571500"/>
            <a:ext cx="47700" cy="5028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4" name="Google Shape;264;p25"/>
          <p:cNvPicPr preferRelativeResize="0"/>
          <p:nvPr/>
        </p:nvPicPr>
        <p:blipFill>
          <a:blip r:embed="rId6">
            <a:alphaModFix/>
          </a:blip>
          <a:stretch>
            <a:fillRect/>
          </a:stretch>
        </p:blipFill>
        <p:spPr>
          <a:xfrm>
            <a:off x="524000" y="2192391"/>
            <a:ext cx="5217100" cy="3315025"/>
          </a:xfrm>
          <a:prstGeom prst="rect">
            <a:avLst/>
          </a:prstGeom>
          <a:noFill/>
          <a:ln>
            <a:noFill/>
          </a:ln>
        </p:spPr>
      </p:pic>
      <p:pic>
        <p:nvPicPr>
          <p:cNvPr id="265" name="Google Shape;265;p25"/>
          <p:cNvPicPr preferRelativeResize="0"/>
          <p:nvPr/>
        </p:nvPicPr>
        <p:blipFill>
          <a:blip r:embed="rId7">
            <a:alphaModFix/>
          </a:blip>
          <a:stretch>
            <a:fillRect/>
          </a:stretch>
        </p:blipFill>
        <p:spPr>
          <a:xfrm>
            <a:off x="6302700" y="2192391"/>
            <a:ext cx="5328992" cy="3315025"/>
          </a:xfrm>
          <a:prstGeom prst="rect">
            <a:avLst/>
          </a:prstGeom>
          <a:noFill/>
          <a:ln>
            <a:noFill/>
          </a:ln>
        </p:spPr>
      </p:pic>
      <p:pic>
        <p:nvPicPr>
          <p:cNvPr id="22" name="Audio 21">
            <a:extLst>
              <a:ext uri="{FF2B5EF4-FFF2-40B4-BE49-F238E27FC236}">
                <a16:creationId xmlns:a16="http://schemas.microsoft.com/office/drawing/2014/main" id="{165803B0-33BF-1AC2-4151-53C7F9DDF41F}"/>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163300" y="4165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82"/>
    </mc:Choice>
    <mc:Fallback>
      <p:transition spd="slow" advTm="342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1048</Words>
  <Application>Microsoft Macintosh PowerPoint</Application>
  <PresentationFormat>Widescreen</PresentationFormat>
  <Paragraphs>72</Paragraphs>
  <Slides>7</Slides>
  <Notes>7</Notes>
  <HiddenSlides>0</HiddenSlides>
  <MMClips>6</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Urbanist</vt:lpstr>
      <vt:lpstr>Roboto Mono</vt:lpstr>
      <vt:lpstr>Inter</vt:lpstr>
      <vt:lpstr>Arial</vt:lpstr>
      <vt:lpstr>Urbanist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Lilian</cp:lastModifiedBy>
  <cp:revision>4</cp:revision>
  <dcterms:modified xsi:type="dcterms:W3CDTF">2025-12-11T11:01:01Z</dcterms:modified>
</cp:coreProperties>
</file>